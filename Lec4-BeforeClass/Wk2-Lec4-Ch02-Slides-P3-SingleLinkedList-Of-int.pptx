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16"/>
  </p:notesMasterIdLst>
  <p:sldIdLst>
    <p:sldId id="256" r:id="rId2"/>
    <p:sldId id="501" r:id="rId3"/>
    <p:sldId id="721" r:id="rId4"/>
    <p:sldId id="685" r:id="rId5"/>
    <p:sldId id="724" r:id="rId6"/>
    <p:sldId id="722" r:id="rId7"/>
    <p:sldId id="725" r:id="rId8"/>
    <p:sldId id="729" r:id="rId9"/>
    <p:sldId id="730" r:id="rId10"/>
    <p:sldId id="731" r:id="rId11"/>
    <p:sldId id="739" r:id="rId12"/>
    <p:sldId id="740" r:id="rId13"/>
    <p:sldId id="734" r:id="rId14"/>
    <p:sldId id="737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90" autoAdjust="0"/>
  </p:normalViewPr>
  <p:slideViewPr>
    <p:cSldViewPr>
      <p:cViewPr varScale="1">
        <p:scale>
          <a:sx n="69" d="100"/>
          <a:sy n="69" d="100"/>
        </p:scale>
        <p:origin x="1206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0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130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AEEC2A5C-E51E-4792-94E9-18BC74BFB4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67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3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2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9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0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F281751-94E1-4F1C-8064-6A210A18A8B0}" type="datetimeFigureOut">
              <a:rPr lang="en-US"/>
              <a:pPr>
                <a:defRPr/>
              </a:pPr>
              <a:t>9/2/2021</a:t>
            </a:fld>
            <a:endParaRPr lang="en-US" sz="1600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algn="ctr"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82725E0-D772-4ABC-8470-3A22187B32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61028-B8CA-457E-941F-5808EDC47C1A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1EDE40-C415-45E7-9556-92FC3025EB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DB5EF-C6C3-4243-BB83-AFC0FE0022DE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 algn="ctr"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3D4693-EE69-46EF-AD18-0FF1AF8A82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32D19C8-8E6D-4F12-8A31-ED4C37214776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>
              <a:defRPr/>
            </a:pPr>
            <a:fld id="{5DC2ADBE-061A-40B3-A8A6-D508347B0B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C5D46A3-D48E-42CF-B0E1-D02244BF56DB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>
              <a:defRPr/>
            </a:pPr>
            <a:fld id="{E7D1BBFD-0A3C-4E79-9ABF-5846A6CC6A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EAC41-1DBE-4B38-8654-90CEF6C7EA61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FADD4E-3CA7-492E-8646-8E7D6C7714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8553F-D6D9-4049-AAED-A0294A6DF2A6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algn="ctr"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B7D5F05-E9B1-41B2-90F4-A0B3C01482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98F88-0B5D-479D-9FF7-F5714F8A2A34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A3AC3D-9EF7-41D7-B8F0-AB8FC4793B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Rectangle 10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1CB5A16-CDA8-46AF-8F55-532EAA141D7A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 algn="ctr">
              <a:defRPr sz="2800" smtClean="0"/>
            </a:lvl1pPr>
          </a:lstStyle>
          <a:p>
            <a:pPr>
              <a:defRPr/>
            </a:pPr>
            <a:fld id="{312C8683-3F5C-4E3F-9845-0ED8D0AFC1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91D82-69F0-433D-B2E3-90E0406F8553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65768042-0946-4E17-820C-84B08BF55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EDB52-E83B-4378-8161-7AB3D4B7DD49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1BD1C1FC-D884-411D-90D7-0873D0289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E21C78B-BA17-4960-A90A-25912925C708}" type="datetimeFigureOut">
              <a:rPr lang="en-US"/>
              <a:pPr>
                <a:defRPr/>
              </a:pPr>
              <a:t>9/2/2021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l" eaLnBrk="1" latinLnBrk="0" hangingPunct="1">
              <a:defRPr kumimoji="0"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3CF949C-AAD2-4F50-851E-5B8FFEC88308}" type="slidenum">
              <a:rPr lang="en-US"/>
              <a:pPr>
                <a:defRPr/>
              </a:pPr>
              <a:t>‹#›</a:t>
            </a:fld>
            <a:endParaRPr lang="en-US" sz="16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04DA3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C4652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/>
              <a:t>Chapter 2, Part 3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3200" dirty="0"/>
              <a:t>Debugging in </a:t>
            </a:r>
            <a:r>
              <a:rPr lang="en-US" sz="3200" dirty="0" err="1"/>
              <a:t>NetBean</a:t>
            </a:r>
            <a:r>
              <a:rPr lang="en-US" sz="3200" dirty="0"/>
              <a:t> IDE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3200" dirty="0"/>
              <a:t>Single Linked List: Implementation</a:t>
            </a:r>
          </a:p>
          <a:p>
            <a:pPr marL="640715" lvl="1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/>
              <a:t>Non-Generic </a:t>
            </a:r>
            <a:r>
              <a:rPr lang="en-US" sz="2800" dirty="0" err="1"/>
              <a:t>SingleLinkedList</a:t>
            </a:r>
            <a:endParaRPr lang="en-US" sz="2800" dirty="0"/>
          </a:p>
          <a:p>
            <a:pPr marL="915352" lvl="2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/>
              <a:t>Single linked list of values of primitive type</a:t>
            </a:r>
          </a:p>
          <a:p>
            <a:pPr marL="1372552" lvl="3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200" dirty="0"/>
              <a:t>Private Node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Debug Programs using </a:t>
            </a:r>
            <a:r>
              <a:rPr lang="en-US" dirty="0" err="1"/>
              <a:t>Netbean</a:t>
            </a:r>
            <a:r>
              <a:rPr lang="en-US" dirty="0"/>
              <a:t>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8621" y="1600200"/>
            <a:ext cx="8627554" cy="51816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Debugging process (basics)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Set breakpoints: </a:t>
            </a:r>
            <a:r>
              <a:rPr lang="en-US" dirty="0"/>
              <a:t>click line number bar to the left of the desired line where you want the breakpoint to be  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Start the debugger</a:t>
            </a:r>
            <a:r>
              <a:rPr lang="en-US" dirty="0"/>
              <a:t>: right-click the program file name in the project list pane, click </a:t>
            </a:r>
            <a:r>
              <a:rPr lang="en-US" b="1" dirty="0"/>
              <a:t>Debug file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Click </a:t>
            </a:r>
            <a:r>
              <a:rPr lang="en-US" b="1" dirty="0">
                <a:solidFill>
                  <a:srgbClr val="0070C0"/>
                </a:solidFill>
              </a:rPr>
              <a:t>Step Over        </a:t>
            </a:r>
            <a:r>
              <a:rPr lang="en-US" b="1" dirty="0"/>
              <a:t>to run code line  by line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Click </a:t>
            </a:r>
            <a:r>
              <a:rPr lang="en-US" b="1" dirty="0">
                <a:solidFill>
                  <a:srgbClr val="0070C0"/>
                </a:solidFill>
              </a:rPr>
              <a:t>Step Into        </a:t>
            </a:r>
            <a:r>
              <a:rPr lang="en-US" b="1" dirty="0"/>
              <a:t>to enter the called method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Click </a:t>
            </a:r>
            <a:r>
              <a:rPr lang="en-US" b="1" dirty="0">
                <a:solidFill>
                  <a:srgbClr val="0070C0"/>
                </a:solidFill>
              </a:rPr>
              <a:t>Continue</a:t>
            </a:r>
            <a:r>
              <a:rPr lang="en-US" b="1" dirty="0"/>
              <a:t>       to run multiple lines from current breakpoint to the next breakpoint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While at a breakpoint, check if current variables are correct. (Check </a:t>
            </a:r>
            <a:r>
              <a:rPr lang="en-US" b="1" dirty="0">
                <a:solidFill>
                  <a:srgbClr val="0070C0"/>
                </a:solidFill>
              </a:rPr>
              <a:t>Variables tab</a:t>
            </a:r>
            <a:r>
              <a:rPr lang="en-US" b="1" dirty="0"/>
              <a:t> at the bottom of GUI)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Click       to end the debugging</a:t>
            </a:r>
          </a:p>
          <a:p>
            <a:pPr marL="835025" lvl="1" indent="-514350" fontAlgn="auto">
              <a:spcAft>
                <a:spcPts val="0"/>
              </a:spcAft>
              <a:buFont typeface="+mj-lt"/>
              <a:buAutoNum type="arabicPeriod"/>
              <a:defRPr/>
            </a:pPr>
            <a:endParaRPr lang="en-US" dirty="0"/>
          </a:p>
          <a:p>
            <a:pPr marL="640715" lvl="1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711" y="3528046"/>
            <a:ext cx="622314" cy="544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990808"/>
            <a:ext cx="594234" cy="6154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4453570"/>
            <a:ext cx="556799" cy="5951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6096000"/>
            <a:ext cx="533400" cy="5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6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3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dirty="0"/>
              <a:t>Implementing Single Linked List of values of primitive type 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dirty="0"/>
          </a:p>
        </p:txBody>
      </p:sp>
      <p:sp>
        <p:nvSpPr>
          <p:cNvPr id="89090" name="Content Placeholder 4"/>
          <p:cNvSpPr>
            <a:spLocks noGrp="1"/>
          </p:cNvSpPr>
          <p:nvPr>
            <p:ph sz="quarter" idx="1"/>
          </p:nvPr>
        </p:nvSpPr>
        <p:spPr>
          <a:xfrm>
            <a:off x="76200" y="1600200"/>
            <a:ext cx="8763000" cy="4495800"/>
          </a:xfrm>
        </p:spPr>
        <p:txBody>
          <a:bodyPr/>
          <a:lstStyle/>
          <a:p>
            <a:r>
              <a:rPr lang="en-US" dirty="0"/>
              <a:t>Do not use generics in implementation</a:t>
            </a:r>
          </a:p>
          <a:p>
            <a:r>
              <a:rPr lang="en-US" dirty="0"/>
              <a:t>Node storing a value of primitive type 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Public</a:t>
            </a:r>
            <a:r>
              <a:rPr lang="en-US" dirty="0"/>
              <a:t> Node class (package </a:t>
            </a:r>
            <a:r>
              <a:rPr lang="en-US" dirty="0" err="1"/>
              <a:t>linkedlist_int_node_</a:t>
            </a:r>
            <a:r>
              <a:rPr lang="en-US" dirty="0" err="1">
                <a:solidFill>
                  <a:srgbClr val="FF0000"/>
                </a:solidFill>
              </a:rPr>
              <a:t>public</a:t>
            </a:r>
            <a:r>
              <a:rPr lang="en-US" dirty="0">
                <a:solidFill>
                  <a:srgbClr val="FF0000"/>
                </a:solidFill>
              </a:rPr>
              <a:t>,      FOR SELF-READING, NOT REQUIRED</a:t>
            </a:r>
            <a:r>
              <a:rPr lang="en-US" dirty="0"/>
              <a:t>)</a:t>
            </a:r>
          </a:p>
          <a:p>
            <a:pPr lvl="2"/>
            <a:r>
              <a:rPr lang="en-US" sz="2700" dirty="0"/>
              <a:t>Node.java – Node definition</a:t>
            </a:r>
          </a:p>
          <a:p>
            <a:pPr lvl="2"/>
            <a:r>
              <a:rPr lang="en-US" sz="2700" dirty="0"/>
              <a:t>UseNodes.java – How to directly connect Node objects</a:t>
            </a:r>
          </a:p>
          <a:p>
            <a:pPr lvl="2"/>
            <a:r>
              <a:rPr lang="en-US" sz="2700" dirty="0"/>
              <a:t>SimpleLinkedList.java</a:t>
            </a:r>
          </a:p>
          <a:p>
            <a:pPr lvl="3"/>
            <a:r>
              <a:rPr lang="en-US" sz="2400" dirty="0"/>
              <a:t>Definition of single linked list of </a:t>
            </a:r>
            <a:r>
              <a:rPr lang="en-US" sz="2400" dirty="0" err="1"/>
              <a:t>int</a:t>
            </a:r>
            <a:r>
              <a:rPr lang="en-US" sz="2400" dirty="0"/>
              <a:t> values</a:t>
            </a:r>
          </a:p>
          <a:p>
            <a:pPr lvl="2"/>
            <a:r>
              <a:rPr lang="en-US" sz="2700" dirty="0"/>
              <a:t>SimpleLinkedListTest.java</a:t>
            </a:r>
          </a:p>
          <a:p>
            <a:pPr lvl="3"/>
            <a:r>
              <a:rPr lang="en-US" sz="2400" dirty="0"/>
              <a:t>A Java application that uses the class </a:t>
            </a:r>
            <a:r>
              <a:rPr lang="en-US" sz="2400" dirty="0" err="1"/>
              <a:t>SimpleLinkedList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777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3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dirty="0"/>
              <a:t>Implementing Single Linked List of values of primitive type 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dirty="0"/>
          </a:p>
        </p:txBody>
      </p:sp>
      <p:sp>
        <p:nvSpPr>
          <p:cNvPr id="89090" name="Content Placeholder 4"/>
          <p:cNvSpPr>
            <a:spLocks noGrp="1"/>
          </p:cNvSpPr>
          <p:nvPr>
            <p:ph sz="quarter" idx="1"/>
          </p:nvPr>
        </p:nvSpPr>
        <p:spPr>
          <a:xfrm>
            <a:off x="76200" y="1600200"/>
            <a:ext cx="9067800" cy="44958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Private</a:t>
            </a:r>
            <a:r>
              <a:rPr lang="en-US" dirty="0"/>
              <a:t> Node class (package </a:t>
            </a:r>
            <a:r>
              <a:rPr lang="en-US" dirty="0" err="1"/>
              <a:t>linkedlist_int_node_</a:t>
            </a:r>
            <a:r>
              <a:rPr lang="en-US" dirty="0" err="1">
                <a:solidFill>
                  <a:srgbClr val="FF0000"/>
                </a:solidFill>
              </a:rPr>
              <a:t>private</a:t>
            </a:r>
            <a:r>
              <a:rPr lang="en-US" dirty="0"/>
              <a:t>)</a:t>
            </a:r>
          </a:p>
          <a:p>
            <a:pPr lvl="1"/>
            <a:r>
              <a:rPr lang="en-US" sz="3000" dirty="0"/>
              <a:t>Has same Node structure as public Node</a:t>
            </a:r>
          </a:p>
          <a:p>
            <a:pPr lvl="1"/>
            <a:r>
              <a:rPr lang="en-US" sz="3000" dirty="0"/>
              <a:t>But </a:t>
            </a:r>
            <a:r>
              <a:rPr lang="en-US" sz="3000" dirty="0" err="1"/>
              <a:t>SimpleLinkedList</a:t>
            </a:r>
            <a:r>
              <a:rPr lang="en-US" sz="3000" dirty="0"/>
              <a:t> class can directly access data fields in Node class using dot operator like</a:t>
            </a:r>
          </a:p>
          <a:p>
            <a:pPr lvl="2"/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current.data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current.next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3000" dirty="0"/>
              <a:t>SimpleLinkedList.java</a:t>
            </a:r>
          </a:p>
          <a:p>
            <a:pPr lvl="2"/>
            <a:r>
              <a:rPr lang="en-US" sz="2700" dirty="0"/>
              <a:t>Definition of single linked list of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700" dirty="0"/>
              <a:t>values</a:t>
            </a:r>
          </a:p>
          <a:p>
            <a:pPr lvl="2"/>
            <a:r>
              <a:rPr lang="en-US" sz="2700" dirty="0"/>
              <a:t>Contains the definition of a private Node class inside</a:t>
            </a:r>
          </a:p>
          <a:p>
            <a:pPr lvl="1"/>
            <a:r>
              <a:rPr lang="en-US" sz="3000" dirty="0"/>
              <a:t>SimpleLinkedListTest.java</a:t>
            </a:r>
          </a:p>
          <a:p>
            <a:pPr lvl="2"/>
            <a:r>
              <a:rPr lang="en-US" sz="2700" dirty="0"/>
              <a:t>A Java application that uses the class </a:t>
            </a:r>
            <a:r>
              <a:rPr lang="en-US" sz="2700" dirty="0" err="1"/>
              <a:t>SimpleLinkedList</a:t>
            </a:r>
            <a:r>
              <a:rPr lang="en-US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123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Structure in a Node object for </a:t>
            </a:r>
            <a:r>
              <a:rPr lang="en-US" b="1" dirty="0" err="1"/>
              <a:t>SimpleLinkedList</a:t>
            </a:r>
            <a:r>
              <a:rPr lang="en-US" b="1" dirty="0"/>
              <a:t> class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599" y="1676400"/>
            <a:ext cx="8537576" cy="45259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Node</a:t>
            </a:r>
            <a:r>
              <a:rPr lang="en-US" dirty="0"/>
              <a:t> object in a single linked list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values contains: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data item of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type</a:t>
            </a:r>
          </a:p>
          <a:p>
            <a:pPr lvl="1"/>
            <a:r>
              <a:rPr lang="en-US" dirty="0"/>
              <a:t>one </a:t>
            </a:r>
            <a:r>
              <a:rPr lang="en-US" dirty="0">
                <a:solidFill>
                  <a:srgbClr val="FF0000"/>
                </a:solidFill>
              </a:rPr>
              <a:t>link</a:t>
            </a:r>
            <a:r>
              <a:rPr lang="en-US" dirty="0"/>
              <a:t> referencing the Node immediately after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31825" y="4267200"/>
            <a:ext cx="2667000" cy="1765300"/>
            <a:chOff x="6324600" y="1676400"/>
            <a:chExt cx="2667000" cy="1765300"/>
          </a:xfrm>
        </p:grpSpPr>
        <p:pic>
          <p:nvPicPr>
            <p:cNvPr id="90115" name="Picture 2" descr="C:\Documents and Settings\Administrator\My Documents\Koffman\PPTs\JPEGS\JWCL233_Koffman JPG files\ch02\w0029-nn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324600" y="1676400"/>
              <a:ext cx="2667000" cy="1765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TextBox 1"/>
            <p:cNvSpPr txBox="1"/>
            <p:nvPr/>
          </p:nvSpPr>
          <p:spPr>
            <a:xfrm>
              <a:off x="6553200" y="2374384"/>
              <a:ext cx="129540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b="0" dirty="0"/>
                <a:t>   data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43758" y="387961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structure: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8133" y="393307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Node object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57800" y="4433666"/>
            <a:ext cx="1828800" cy="1357534"/>
            <a:chOff x="5257800" y="4433666"/>
            <a:chExt cx="1828800" cy="1357534"/>
          </a:xfrm>
        </p:grpSpPr>
        <p:sp>
          <p:nvSpPr>
            <p:cNvPr id="5" name="Rectangle 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416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Creating Node objects Before Forming a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/>
              <a:t>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" y="4386241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33600" y="210474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926007" y="208410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094427" y="2084109"/>
            <a:ext cx="183831" cy="6217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435291" y="2663528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510078" y="266352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515612" y="2663528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323113" y="4763212"/>
            <a:ext cx="5665483" cy="1713788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first = new Node(20);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second = new Node(60);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third = new Node(100);</a:t>
            </a:r>
          </a:p>
          <a:p>
            <a:pPr marL="0" indent="0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0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Directly Connect Node objects and Form a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" y="4386241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33600" y="210474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926007" y="208410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094427" y="2084109"/>
            <a:ext cx="183831" cy="6217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435291" y="2663528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510078" y="266352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784199" y="2695269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443923" y="4784148"/>
            <a:ext cx="4117850" cy="1489554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first.next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second;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second.next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third;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last = third;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2565782" y="3461072"/>
            <a:ext cx="944296" cy="272728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4737456" y="3340781"/>
            <a:ext cx="1092700" cy="380936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68322" y="147930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1945" y="1870427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6753163" y="2084109"/>
            <a:ext cx="1111362" cy="5344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B677CEE-0447-4E76-9B61-8F230DFA5757}"/>
              </a:ext>
            </a:extLst>
          </p:cNvPr>
          <p:cNvSpPr txBox="1"/>
          <p:nvPr/>
        </p:nvSpPr>
        <p:spPr>
          <a:xfrm>
            <a:off x="2997179" y="31363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A24317-028C-46C1-A209-AC5DD29FA5FE}"/>
              </a:ext>
            </a:extLst>
          </p:cNvPr>
          <p:cNvSpPr txBox="1"/>
          <p:nvPr/>
        </p:nvSpPr>
        <p:spPr>
          <a:xfrm>
            <a:off x="5219234" y="30047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BEF6D5-9FCD-44B7-83D1-6F5D9A692F75}"/>
              </a:ext>
            </a:extLst>
          </p:cNvPr>
          <p:cNvSpPr txBox="1"/>
          <p:nvPr/>
        </p:nvSpPr>
        <p:spPr>
          <a:xfrm>
            <a:off x="7083248" y="200260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0164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Add a Node to the Front of the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6860" y="4743035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2607" y="196742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133445" y="2190423"/>
            <a:ext cx="1216888" cy="4770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58189" y="2084109"/>
            <a:ext cx="127663" cy="53814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278259" y="2084109"/>
            <a:ext cx="564927" cy="65406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2228965" y="2773735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05588" y="271655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76816" y="2793025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3717746" y="5039499"/>
            <a:ext cx="4736743" cy="1489554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newFirst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new Node(30);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newFirst.next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first;</a:t>
            </a: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first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newFirst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359456" y="3571279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539768" y="3407120"/>
            <a:ext cx="1092700" cy="38093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28600" y="2712584"/>
            <a:ext cx="1464293" cy="1357534"/>
            <a:chOff x="5257800" y="4433666"/>
            <a:chExt cx="1828800" cy="1357534"/>
          </a:xfrm>
        </p:grpSpPr>
        <p:sp>
          <p:nvSpPr>
            <p:cNvPr id="46" name="Rectangle 4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0" name="Straight Arrow Connector 49"/>
          <p:cNvCxnSpPr/>
          <p:nvPr/>
        </p:nvCxnSpPr>
        <p:spPr>
          <a:xfrm flipV="1">
            <a:off x="1266323" y="3503074"/>
            <a:ext cx="944296" cy="272728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2769" y="4682032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52207" y="4984518"/>
            <a:ext cx="149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newFirst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Arrow Connector 52"/>
          <p:cNvCxnSpPr>
            <a:endCxn id="47" idx="2"/>
          </p:cNvCxnSpPr>
          <p:nvPr/>
        </p:nvCxnSpPr>
        <p:spPr>
          <a:xfrm flipH="1" flipV="1">
            <a:off x="960747" y="4070118"/>
            <a:ext cx="17053" cy="7310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968322" y="147930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91945" y="1870427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endCxn id="36" idx="0"/>
          </p:cNvCxnSpPr>
          <p:nvPr/>
        </p:nvCxnSpPr>
        <p:spPr>
          <a:xfrm flipH="1">
            <a:off x="7439462" y="2084109"/>
            <a:ext cx="425063" cy="70891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7B4813D-4504-41C4-9F77-3CDB8CB72215}"/>
              </a:ext>
            </a:extLst>
          </p:cNvPr>
          <p:cNvSpPr txBox="1"/>
          <p:nvPr/>
        </p:nvSpPr>
        <p:spPr>
          <a:xfrm>
            <a:off x="588852" y="42800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5D47A1-CA26-4B90-818A-3F99E1D136D4}"/>
              </a:ext>
            </a:extLst>
          </p:cNvPr>
          <p:cNvSpPr txBox="1"/>
          <p:nvPr/>
        </p:nvSpPr>
        <p:spPr>
          <a:xfrm>
            <a:off x="1648548" y="31619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E8C0DE-9853-489B-8E53-6B7AB2510B86}"/>
              </a:ext>
            </a:extLst>
          </p:cNvPr>
          <p:cNvSpPr txBox="1"/>
          <p:nvPr/>
        </p:nvSpPr>
        <p:spPr>
          <a:xfrm>
            <a:off x="1474831" y="207900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1104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Add a Node to the End of the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6607" y="5011563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133445" y="2190423"/>
            <a:ext cx="1216888" cy="477044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58189" y="2084109"/>
            <a:ext cx="127663" cy="53814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278259" y="2084109"/>
            <a:ext cx="564927" cy="65406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05905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701" y="208410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2228965" y="2773735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05588" y="271655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76816" y="2793025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1133445" y="5399759"/>
            <a:ext cx="4736743" cy="1295952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newLast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new Node(40);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last.next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newLast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last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newLast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359456" y="3571279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539768" y="3407120"/>
            <a:ext cx="1092700" cy="38093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1125" y="1677473"/>
            <a:ext cx="149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newFirst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894234" y="189271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584194" y="2251590"/>
            <a:ext cx="155645" cy="415877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228600" y="2712584"/>
            <a:ext cx="1464293" cy="1357534"/>
            <a:chOff x="5257800" y="4433666"/>
            <a:chExt cx="1828800" cy="1357534"/>
          </a:xfrm>
        </p:grpSpPr>
        <p:sp>
          <p:nvSpPr>
            <p:cNvPr id="46" name="Rectangle 4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0" name="Straight Arrow Connector 49"/>
          <p:cNvCxnSpPr/>
          <p:nvPr/>
        </p:nvCxnSpPr>
        <p:spPr>
          <a:xfrm flipV="1">
            <a:off x="1266323" y="3503074"/>
            <a:ext cx="944296" cy="27272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175583" y="461518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5081985" y="4550273"/>
            <a:ext cx="149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newLast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6509384" y="4819502"/>
            <a:ext cx="698021" cy="1409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56" idx="0"/>
          </p:cNvCxnSpPr>
          <p:nvPr/>
        </p:nvCxnSpPr>
        <p:spPr>
          <a:xfrm>
            <a:off x="7654283" y="3825598"/>
            <a:ext cx="315768" cy="7298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7207405" y="4555441"/>
            <a:ext cx="1525292" cy="1357534"/>
            <a:chOff x="5257800" y="4433666"/>
            <a:chExt cx="1828800" cy="1357534"/>
          </a:xfrm>
        </p:grpSpPr>
        <p:sp>
          <p:nvSpPr>
            <p:cNvPr id="56" name="Rectangle 5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62" name="Straight Arrow Connector 61"/>
          <p:cNvCxnSpPr/>
          <p:nvPr/>
        </p:nvCxnSpPr>
        <p:spPr>
          <a:xfrm>
            <a:off x="8246456" y="2060197"/>
            <a:ext cx="296575" cy="24740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2DDF16D-F5F0-40C5-A289-3098C99BDBA8}"/>
              </a:ext>
            </a:extLst>
          </p:cNvPr>
          <p:cNvSpPr txBox="1"/>
          <p:nvPr/>
        </p:nvSpPr>
        <p:spPr>
          <a:xfrm>
            <a:off x="6676816" y="50312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8731E2-8AF9-4782-B2FF-4F49C5656A0B}"/>
              </a:ext>
            </a:extLst>
          </p:cNvPr>
          <p:cNvSpPr txBox="1"/>
          <p:nvPr/>
        </p:nvSpPr>
        <p:spPr>
          <a:xfrm>
            <a:off x="7506428" y="41400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E305F7-63A2-479A-B5DB-2D2E76762B0F}"/>
              </a:ext>
            </a:extLst>
          </p:cNvPr>
          <p:cNvSpPr txBox="1"/>
          <p:nvPr/>
        </p:nvSpPr>
        <p:spPr>
          <a:xfrm>
            <a:off x="8522747" y="37990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519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Remove First Node of the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5980" y="4960416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50333" y="2190423"/>
            <a:ext cx="549251" cy="6026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58189" y="2084109"/>
            <a:ext cx="127663" cy="53814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278259" y="2084109"/>
            <a:ext cx="564927" cy="65406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05905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228965" y="2773735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05588" y="271655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76816" y="2793025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1133446" y="5399759"/>
            <a:ext cx="4576614" cy="513216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first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first.next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359456" y="3571279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539768" y="3407120"/>
            <a:ext cx="1092700" cy="38093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894234" y="189271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228600" y="2712584"/>
            <a:ext cx="1464293" cy="1357534"/>
            <a:chOff x="5257800" y="4433666"/>
            <a:chExt cx="1828800" cy="1357534"/>
          </a:xfrm>
        </p:grpSpPr>
        <p:sp>
          <p:nvSpPr>
            <p:cNvPr id="46" name="Rectangle 4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0" name="Straight Arrow Connector 49"/>
          <p:cNvCxnSpPr/>
          <p:nvPr/>
        </p:nvCxnSpPr>
        <p:spPr>
          <a:xfrm flipV="1">
            <a:off x="1266323" y="3503074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56" idx="0"/>
          </p:cNvCxnSpPr>
          <p:nvPr/>
        </p:nvCxnSpPr>
        <p:spPr>
          <a:xfrm>
            <a:off x="7654283" y="3825598"/>
            <a:ext cx="315768" cy="72984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7207405" y="4555441"/>
            <a:ext cx="1525292" cy="1357534"/>
            <a:chOff x="5257800" y="4433666"/>
            <a:chExt cx="1828800" cy="1357534"/>
          </a:xfrm>
        </p:grpSpPr>
        <p:sp>
          <p:nvSpPr>
            <p:cNvPr id="56" name="Rectangle 5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62" name="Straight Arrow Connector 61"/>
          <p:cNvCxnSpPr/>
          <p:nvPr/>
        </p:nvCxnSpPr>
        <p:spPr>
          <a:xfrm>
            <a:off x="8246456" y="2060197"/>
            <a:ext cx="296575" cy="247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Remove Last Node of the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5980" y="4960416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350333" y="2190423"/>
            <a:ext cx="549251" cy="60260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358189" y="2084109"/>
            <a:ext cx="127663" cy="53814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278259" y="2084109"/>
            <a:ext cx="564927" cy="65406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05905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228965" y="2773735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305588" y="271655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76816" y="2793025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1133446" y="5399759"/>
            <a:ext cx="4576614" cy="513216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third.next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null;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last = third;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3359456" y="3571279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539768" y="3407120"/>
            <a:ext cx="1092700" cy="38093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894234" y="189271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>
            <a:endCxn id="56" idx="0"/>
          </p:cNvCxnSpPr>
          <p:nvPr/>
        </p:nvCxnSpPr>
        <p:spPr>
          <a:xfrm>
            <a:off x="7654283" y="3825598"/>
            <a:ext cx="315768" cy="72984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7207405" y="4555441"/>
            <a:ext cx="1525292" cy="1357534"/>
            <a:chOff x="5257800" y="4433666"/>
            <a:chExt cx="1828800" cy="1357534"/>
          </a:xfrm>
        </p:grpSpPr>
        <p:sp>
          <p:nvSpPr>
            <p:cNvPr id="56" name="Rectangle 5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62" name="Straight Arrow Connector 61"/>
          <p:cNvCxnSpPr/>
          <p:nvPr/>
        </p:nvCxnSpPr>
        <p:spPr>
          <a:xfrm>
            <a:off x="8246456" y="2060197"/>
            <a:ext cx="296575" cy="247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ultiply 1"/>
          <p:cNvSpPr/>
          <p:nvPr/>
        </p:nvSpPr>
        <p:spPr>
          <a:xfrm>
            <a:off x="8118124" y="2354659"/>
            <a:ext cx="340465" cy="35462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654284" y="2060197"/>
            <a:ext cx="547824" cy="6779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y 51"/>
          <p:cNvSpPr/>
          <p:nvPr/>
        </p:nvSpPr>
        <p:spPr>
          <a:xfrm>
            <a:off x="7654283" y="4080334"/>
            <a:ext cx="340465" cy="35462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57955" y="3788056"/>
            <a:ext cx="688507" cy="183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24F451-6DC0-48D3-91EC-483A5BFEC527}"/>
              </a:ext>
            </a:extLst>
          </p:cNvPr>
          <p:cNvSpPr txBox="1"/>
          <p:nvPr/>
        </p:nvSpPr>
        <p:spPr>
          <a:xfrm>
            <a:off x="7357154" y="41424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690DD1-692D-4FB8-A196-B370B389F544}"/>
              </a:ext>
            </a:extLst>
          </p:cNvPr>
          <p:cNvSpPr txBox="1"/>
          <p:nvPr/>
        </p:nvSpPr>
        <p:spPr>
          <a:xfrm>
            <a:off x="7453483" y="221141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60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4000" b="1" dirty="0"/>
              <a:t>Traverse Node objects in a Single Linked List of </a:t>
            </a:r>
            <a:r>
              <a:rPr lang="en-US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dirty="0"/>
              <a:t>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176" y="4677506"/>
            <a:ext cx="292900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SimpleLinkedList.main</a:t>
            </a:r>
            <a:r>
              <a:rPr lang="en-US" dirty="0"/>
              <a:t>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33600" y="210474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109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926007" y="208410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094427" y="2084109"/>
            <a:ext cx="183831" cy="6217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435291" y="2663528"/>
            <a:ext cx="1464293" cy="1357534"/>
            <a:chOff x="5257800" y="4433666"/>
            <a:chExt cx="1828800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510078" y="266352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784199" y="2695269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100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sp>
        <p:nvSpPr>
          <p:cNvPr id="40" name="Content Placeholder 2"/>
          <p:cNvSpPr txBox="1">
            <a:spLocks/>
          </p:cNvSpPr>
          <p:nvPr/>
        </p:nvSpPr>
        <p:spPr>
          <a:xfrm>
            <a:off x="771386" y="5116687"/>
            <a:ext cx="6309241" cy="1489554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 current = first;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while (current != null)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current.data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current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current.next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2565782" y="3461072"/>
            <a:ext cx="944296" cy="272728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4737456" y="3340781"/>
            <a:ext cx="1092700" cy="38093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58355" y="1560985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0914" y="2012810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6865151" y="2144368"/>
            <a:ext cx="1111362" cy="53444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46261" y="4510710"/>
            <a:ext cx="1080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0004" y="4599507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/>
          <p:nvPr/>
        </p:nvCxnSpPr>
        <p:spPr>
          <a:xfrm flipH="1" flipV="1">
            <a:off x="2349693" y="4046346"/>
            <a:ext cx="2764849" cy="7206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4094904" y="4038449"/>
            <a:ext cx="1188901" cy="6773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5486400" y="4109775"/>
            <a:ext cx="652505" cy="6572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52522" y="44964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2310" y="421541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41097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4941" y="457250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3494" y="49508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7938" y="4372031"/>
            <a:ext cx="2223686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 the animation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8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0" grpId="0"/>
      <p:bldP spid="51" grpId="0"/>
      <p:bldP spid="24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/>
          <a:lstStyle/>
          <a:p>
            <a:r>
              <a:rPr lang="en-US" sz="3600" b="1" dirty="0"/>
              <a:t>An Example of Single Linked List of </a:t>
            </a:r>
            <a:r>
              <a:rPr lang="en-US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b="1" dirty="0"/>
              <a:t>values using class </a:t>
            </a:r>
            <a:r>
              <a:rPr lang="en-US" sz="3600" b="1" dirty="0" err="1"/>
              <a:t>SimpleLinkedList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3833" y="1649657"/>
            <a:ext cx="31427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SimpleLinkedList</a:t>
            </a:r>
            <a:r>
              <a:rPr lang="en-US" dirty="0">
                <a:solidFill>
                  <a:srgbClr val="FF0000"/>
                </a:solidFill>
              </a:rPr>
              <a:t>Test</a:t>
            </a:r>
            <a:r>
              <a:rPr lang="en-US" dirty="0"/>
              <a:t>.java: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295" y="441748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2739235" y="2565628"/>
            <a:ext cx="1464294" cy="1357534"/>
            <a:chOff x="5257799" y="4433666"/>
            <a:chExt cx="1828801" cy="1357534"/>
          </a:xfrm>
        </p:grpSpPr>
        <p:sp>
          <p:nvSpPr>
            <p:cNvPr id="25" name="Rectangle 24"/>
            <p:cNvSpPr/>
            <p:nvPr/>
          </p:nvSpPr>
          <p:spPr>
            <a:xfrm>
              <a:off x="5257799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603457" y="2587968"/>
            <a:ext cx="1604464" cy="1357534"/>
            <a:chOff x="5257800" y="4433666"/>
            <a:chExt cx="1828800" cy="1357534"/>
          </a:xfrm>
        </p:grpSpPr>
        <p:sp>
          <p:nvSpPr>
            <p:cNvPr id="31" name="Rectangle 30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704465" y="2587968"/>
            <a:ext cx="1525292" cy="1357534"/>
            <a:chOff x="5257800" y="4433666"/>
            <a:chExt cx="1828800" cy="1357534"/>
          </a:xfrm>
        </p:grpSpPr>
        <p:sp>
          <p:nvSpPr>
            <p:cNvPr id="36" name="Rectangle 3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1611" y="5035966"/>
              <a:ext cx="777034" cy="19524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null</a:t>
              </a:r>
            </a:p>
          </p:txBody>
        </p:sp>
      </p:grpSp>
      <p:cxnSp>
        <p:nvCxnSpPr>
          <p:cNvPr id="3" name="Straight Arrow Connector 2"/>
          <p:cNvCxnSpPr/>
          <p:nvPr/>
        </p:nvCxnSpPr>
        <p:spPr>
          <a:xfrm flipV="1">
            <a:off x="3787764" y="3443013"/>
            <a:ext cx="831531" cy="169905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46713" y="3488302"/>
            <a:ext cx="787316" cy="182434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74103" y="4886031"/>
            <a:ext cx="149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93834" y="2624348"/>
            <a:ext cx="2046444" cy="1357534"/>
            <a:chOff x="5257800" y="4433666"/>
            <a:chExt cx="1828800" cy="1357534"/>
          </a:xfrm>
        </p:grpSpPr>
        <p:sp>
          <p:nvSpPr>
            <p:cNvPr id="46" name="Rectangle 45"/>
            <p:cNvSpPr/>
            <p:nvPr/>
          </p:nvSpPr>
          <p:spPr>
            <a:xfrm>
              <a:off x="5257800" y="4433666"/>
              <a:ext cx="1828800" cy="4431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SimpleLinkedList</a:t>
              </a:r>
              <a:endPara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257800" y="4876800"/>
              <a:ext cx="1828800" cy="9144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  <a:p>
              <a:endPara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b="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size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9044" y="5035966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249044" y="5383647"/>
              <a:ext cx="609600" cy="216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cxnSp>
        <p:nvCxnSpPr>
          <p:cNvPr id="50" name="Straight Arrow Connector 49"/>
          <p:cNvCxnSpPr/>
          <p:nvPr/>
        </p:nvCxnSpPr>
        <p:spPr>
          <a:xfrm flipV="1">
            <a:off x="1700224" y="3198746"/>
            <a:ext cx="1036598" cy="13646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1174827" y="3981882"/>
            <a:ext cx="342071" cy="58227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761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b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Urba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13708</TotalTime>
  <Words>796</Words>
  <Application>Microsoft Office PowerPoint</Application>
  <PresentationFormat>On-screen Show (4:3)</PresentationFormat>
  <Paragraphs>312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Tw Cen MT</vt:lpstr>
      <vt:lpstr>Wingdings</vt:lpstr>
      <vt:lpstr>Wingdings 2</vt:lpstr>
      <vt:lpstr>Median</vt:lpstr>
      <vt:lpstr>Chapter 2, Part 3 </vt:lpstr>
      <vt:lpstr>Key topics</vt:lpstr>
      <vt:lpstr>Debug Programs using Netbean IDE</vt:lpstr>
      <vt:lpstr>Implementing Single Linked List of values of primitive type like int</vt:lpstr>
      <vt:lpstr>Implementing Single Linked List of values of primitive type like int</vt:lpstr>
      <vt:lpstr>Structure in a Node object for SimpleLinkedList class</vt:lpstr>
      <vt:lpstr>Creating Node objects Before Forming a Single Linked List of int values</vt:lpstr>
      <vt:lpstr>Directly Connect Node objects and Form a Single Linked List of int values</vt:lpstr>
      <vt:lpstr>Add a Node to the Front of the Single Linked List of int values</vt:lpstr>
      <vt:lpstr>Add a Node to the End of the Single Linked List of int values</vt:lpstr>
      <vt:lpstr>Remove First Node of the Single Linked List of int values</vt:lpstr>
      <vt:lpstr>Remove Last Node of the Single Linked List of int values</vt:lpstr>
      <vt:lpstr>Traverse Node objects in a Single Linked List of int values</vt:lpstr>
      <vt:lpstr>An Example of Single Linked List of int values using class SimpleLinkedList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and Class Hierarchies</dc:title>
  <dc:creator>Eliot Moss and Philip King</dc:creator>
  <cp:lastModifiedBy>Cindy Li</cp:lastModifiedBy>
  <cp:revision>660</cp:revision>
  <dcterms:created xsi:type="dcterms:W3CDTF">2004-06-18T19:15:49Z</dcterms:created>
  <dcterms:modified xsi:type="dcterms:W3CDTF">2021-09-02T05:27:58Z</dcterms:modified>
</cp:coreProperties>
</file>