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7" r:id="rId1"/>
  </p:sldMasterIdLst>
  <p:notesMasterIdLst>
    <p:notesMasterId r:id="rId35"/>
  </p:notesMasterIdLst>
  <p:sldIdLst>
    <p:sldId id="256" r:id="rId2"/>
    <p:sldId id="739" r:id="rId3"/>
    <p:sldId id="743" r:id="rId4"/>
    <p:sldId id="744" r:id="rId5"/>
    <p:sldId id="745" r:id="rId6"/>
    <p:sldId id="746" r:id="rId7"/>
    <p:sldId id="684" r:id="rId8"/>
    <p:sldId id="707" r:id="rId9"/>
    <p:sldId id="740" r:id="rId10"/>
    <p:sldId id="706" r:id="rId11"/>
    <p:sldId id="749" r:id="rId12"/>
    <p:sldId id="750" r:id="rId13"/>
    <p:sldId id="752" r:id="rId14"/>
    <p:sldId id="709" r:id="rId15"/>
    <p:sldId id="747" r:id="rId16"/>
    <p:sldId id="748" r:id="rId17"/>
    <p:sldId id="699" r:id="rId18"/>
    <p:sldId id="691" r:id="rId19"/>
    <p:sldId id="700" r:id="rId20"/>
    <p:sldId id="701" r:id="rId21"/>
    <p:sldId id="702" r:id="rId22"/>
    <p:sldId id="695" r:id="rId23"/>
    <p:sldId id="703" r:id="rId24"/>
    <p:sldId id="704" r:id="rId25"/>
    <p:sldId id="712" r:id="rId26"/>
    <p:sldId id="713" r:id="rId27"/>
    <p:sldId id="714" r:id="rId28"/>
    <p:sldId id="715" r:id="rId29"/>
    <p:sldId id="716" r:id="rId30"/>
    <p:sldId id="717" r:id="rId31"/>
    <p:sldId id="718" r:id="rId32"/>
    <p:sldId id="719" r:id="rId33"/>
    <p:sldId id="720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590" autoAdjust="0"/>
  </p:normalViewPr>
  <p:slideViewPr>
    <p:cSldViewPr>
      <p:cViewPr varScale="1">
        <p:scale>
          <a:sx n="69" d="100"/>
          <a:sy n="69" d="100"/>
        </p:scale>
        <p:origin x="1206" y="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007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8" d="100"/>
          <a:sy n="48" d="100"/>
        </p:scale>
        <p:origin x="-1302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AEEC2A5C-E51E-4792-94E9-18BC74BFB4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133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498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595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994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056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206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423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1568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223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3418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5763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9868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532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8866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4374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448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1456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2433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6824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4621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EC2A5C-E51E-4792-94E9-18BC74BFB400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400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" name="Rectangle 9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10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F281751-94E1-4F1C-8064-6A210A18A8B0}" type="datetimeFigureOut">
              <a:rPr lang="en-US"/>
              <a:pPr>
                <a:defRPr/>
              </a:pPr>
              <a:t>1/30/2023</a:t>
            </a:fld>
            <a:endParaRPr lang="en-US" sz="1600" dirty="0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 algn="ctr"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382725E0-D772-4ABC-8470-3A22187B32B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861028-B8CA-457E-941F-5808EDC47C1A}" type="datetimeFigureOut">
              <a:rPr lang="en-US"/>
              <a:pPr>
                <a:defRPr/>
              </a:pPr>
              <a:t>1/30/2023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A1EDE40-C415-45E7-9556-92FC3025EBE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7DB5EF-C6C3-4243-BB83-AFC0FE0022DE}" type="datetimeFigureOut">
              <a:rPr lang="en-US"/>
              <a:pPr>
                <a:defRPr/>
              </a:pPr>
              <a:t>1/30/2023</a:t>
            </a:fld>
            <a:endParaRPr lang="en-US" dirty="0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 algn="ctr">
              <a:defRPr sz="24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13D4693-EE69-46EF-AD18-0FF1AF8A82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32D19C8-8E6D-4F12-8A31-ED4C37214776}" type="datetimeFigureOut">
              <a:rPr lang="en-US"/>
              <a:pPr>
                <a:defRPr/>
              </a:pPr>
              <a:t>1/30/2023</a:t>
            </a:fld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>
              <a:defRPr/>
            </a:pPr>
            <a:fld id="{5DC2ADBE-061A-40B3-A8A6-D508347B0B7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C5D46A3-D48E-42CF-B0E1-D02244BF56DB}" type="datetimeFigureOut">
              <a:rPr lang="en-US"/>
              <a:pPr>
                <a:defRPr/>
              </a:pPr>
              <a:t>1/30/2023</a:t>
            </a:fld>
            <a:endParaRPr lang="en-US" dirty="0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>
              <a:defRPr/>
            </a:pPr>
            <a:fld id="{E7D1BBFD-0A3C-4E79-9ABF-5846A6CC6A6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EAC41-1DBE-4B38-8654-90CEF6C7EA61}" type="datetimeFigureOut">
              <a:rPr lang="en-US"/>
              <a:pPr>
                <a:defRPr/>
              </a:pPr>
              <a:t>1/30/2023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5FADD4E-3CA7-492E-8646-8E7D6C7714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8553F-D6D9-4049-AAED-A0294A6DF2A6}" type="datetimeFigureOut">
              <a:rPr lang="en-US"/>
              <a:pPr>
                <a:defRPr/>
              </a:pPr>
              <a:t>1/30/2023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 algn="ctr"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B7D5F05-E9B1-41B2-90F4-A0B3C014824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98F88-0B5D-479D-9FF7-F5714F8A2A34}" type="datetimeFigureOut">
              <a:rPr lang="en-US"/>
              <a:pPr>
                <a:defRPr/>
              </a:pPr>
              <a:t>1/30/2023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DA3AC3D-9EF7-41D7-B8F0-AB8FC4793B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8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7" name="Rectangle 9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8" name="Rectangle 10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1CB5A16-CDA8-46AF-8F55-532EAA141D7A}" type="datetimeFigureOut">
              <a:rPr lang="en-US"/>
              <a:pPr>
                <a:defRPr/>
              </a:pPr>
              <a:t>1/30/2023</a:t>
            </a:fld>
            <a:endParaRPr lang="en-US" dirty="0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 algn="ctr">
              <a:defRPr sz="2800" smtClean="0"/>
            </a:lvl1pPr>
          </a:lstStyle>
          <a:p>
            <a:pPr>
              <a:defRPr/>
            </a:pPr>
            <a:fld id="{312C8683-3F5C-4E3F-9845-0ED8D0AFC11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991D82-69F0-433D-B2E3-90E0406F8553}" type="datetimeFigureOut">
              <a:rPr lang="en-US"/>
              <a:pPr>
                <a:defRPr/>
              </a:pPr>
              <a:t>1/30/2023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65768042-0946-4E17-820C-84B08BF555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EDB52-E83B-4378-8161-7AB3D4B7DD49}" type="datetimeFigureOut">
              <a:rPr lang="en-US"/>
              <a:pPr>
                <a:defRPr/>
              </a:pPr>
              <a:t>1/30/2023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1BD1C1FC-D884-411D-90D7-0873D0289C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E21C78B-BA17-4960-A90A-25912925C708}" type="datetimeFigureOut">
              <a:rPr lang="en-US"/>
              <a:pPr>
                <a:defRPr/>
              </a:pPr>
              <a:t>1/30/2023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l" eaLnBrk="1" latinLnBrk="0" hangingPunct="1">
              <a:defRPr kumimoji="0" sz="1400" b="1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3CF949C-AAD2-4F50-851E-5B8FFEC88308}" type="slidenum">
              <a:rPr lang="en-US"/>
              <a:pPr>
                <a:defRPr/>
              </a:pPr>
              <a:t>‹#›</a:t>
            </a:fld>
            <a:endParaRPr lang="en-US" sz="1600" dirty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fontAlgn="base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fontAlgn="base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fontAlgn="base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fontAlgn="base">
        <a:spcBef>
          <a:spcPts val="400"/>
        </a:spcBef>
        <a:spcAft>
          <a:spcPct val="0"/>
        </a:spcAft>
        <a:buClr>
          <a:srgbClr val="A04DA3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fontAlgn="base">
        <a:spcBef>
          <a:spcPts val="400"/>
        </a:spcBef>
        <a:spcAft>
          <a:spcPct val="0"/>
        </a:spcAft>
        <a:buClr>
          <a:srgbClr val="C4652D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b="1" dirty="0"/>
              <a:t>Chapter 2</a:t>
            </a:r>
            <a:br>
              <a:rPr lang="en-US" sz="4000" b="1" dirty="0"/>
            </a:br>
            <a:r>
              <a:rPr lang="en-US" sz="4000" b="1" dirty="0"/>
              <a:t>Part 4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800" dirty="0"/>
              <a:t>Singly Linked List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b="1" dirty="0"/>
              <a:t>Key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/>
          </a:bodyPr>
          <a:lstStyle/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3200" dirty="0"/>
              <a:t>Single Linked List: Implementation</a:t>
            </a:r>
          </a:p>
          <a:p>
            <a:pPr marL="640715" lvl="1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800" dirty="0"/>
              <a:t>Non-Generic </a:t>
            </a:r>
            <a:r>
              <a:rPr lang="en-US" sz="2800" dirty="0" err="1"/>
              <a:t>SingleLinkedList</a:t>
            </a:r>
            <a:endParaRPr lang="en-US" sz="2800" b="1" dirty="0">
              <a:solidFill>
                <a:srgbClr val="FF0000"/>
              </a:solidFill>
            </a:endParaRPr>
          </a:p>
          <a:p>
            <a:pPr marL="915352" lvl="2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500" dirty="0"/>
              <a:t>Single linked list of objects of a specific type</a:t>
            </a:r>
          </a:p>
          <a:p>
            <a:pPr marL="640715" lvl="1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800" dirty="0"/>
              <a:t>Generic </a:t>
            </a:r>
            <a:r>
              <a:rPr lang="en-US" sz="2800" dirty="0" err="1"/>
              <a:t>SingleLinkedList</a:t>
            </a:r>
            <a:endParaRPr lang="en-US" sz="2800" dirty="0"/>
          </a:p>
          <a:p>
            <a:pPr marL="915352" lvl="2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500" dirty="0"/>
              <a:t>Single linked list of objects of any Java class type</a:t>
            </a:r>
          </a:p>
          <a:p>
            <a:pPr marL="320675" lvl="1" indent="0" fontAlgn="auto">
              <a:spcAft>
                <a:spcPts val="0"/>
              </a:spcAft>
              <a:buNone/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99974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itle 3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dirty="0"/>
              <a:t>Implementing Single Linked List of objects of a Specific Class Type</a:t>
            </a:r>
            <a:endParaRPr lang="en-US" b="1" dirty="0"/>
          </a:p>
        </p:txBody>
      </p:sp>
      <p:sp>
        <p:nvSpPr>
          <p:cNvPr id="89090" name="Content Placeholder 4"/>
          <p:cNvSpPr>
            <a:spLocks noGrp="1"/>
          </p:cNvSpPr>
          <p:nvPr>
            <p:ph sz="quarter" idx="1"/>
          </p:nvPr>
        </p:nvSpPr>
        <p:spPr>
          <a:xfrm>
            <a:off x="76200" y="1600200"/>
            <a:ext cx="9067800" cy="54102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Do not use generics in implementation</a:t>
            </a:r>
          </a:p>
          <a:p>
            <a:pPr>
              <a:spcBef>
                <a:spcPts val="0"/>
              </a:spcBef>
            </a:pPr>
            <a:r>
              <a:rPr lang="en-US" dirty="0"/>
              <a:t>Node storing a reference to an object of a specific class type like Magazine (renamed to </a:t>
            </a:r>
            <a:r>
              <a:rPr lang="en-US" sz="2800" dirty="0" err="1"/>
              <a:t>MagazineNode</a:t>
            </a:r>
            <a:r>
              <a:rPr lang="en-US" sz="2800" dirty="0"/>
              <a:t>)</a:t>
            </a:r>
            <a:endParaRPr lang="en-US" dirty="0"/>
          </a:p>
          <a:p>
            <a:r>
              <a:rPr lang="en-US" dirty="0"/>
              <a:t>Package linkedlist_</a:t>
            </a:r>
            <a:r>
              <a:rPr lang="en-US" dirty="0">
                <a:solidFill>
                  <a:srgbClr val="FF0000"/>
                </a:solidFill>
              </a:rPr>
              <a:t>1objtype (FOR SELF-READING)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sz="2700" dirty="0"/>
              <a:t>Magazine.java – Definition of all magazines</a:t>
            </a:r>
          </a:p>
          <a:p>
            <a:pPr lvl="1">
              <a:spcBef>
                <a:spcPts val="0"/>
              </a:spcBef>
            </a:pPr>
            <a:r>
              <a:rPr lang="en-US" sz="2700" dirty="0">
                <a:solidFill>
                  <a:srgbClr val="FF0000"/>
                </a:solidFill>
              </a:rPr>
              <a:t>MagazineListSingleLinked</a:t>
            </a:r>
            <a:r>
              <a:rPr lang="en-US" sz="2700" dirty="0"/>
              <a:t>.java – </a:t>
            </a:r>
          </a:p>
          <a:p>
            <a:pPr lvl="2">
              <a:spcBef>
                <a:spcPts val="0"/>
              </a:spcBef>
            </a:pPr>
            <a:r>
              <a:rPr lang="en-US" sz="2700" dirty="0"/>
              <a:t>Definition of single linked list of Magazine objects</a:t>
            </a:r>
          </a:p>
          <a:p>
            <a:pPr lvl="2">
              <a:spcBef>
                <a:spcPts val="0"/>
              </a:spcBef>
            </a:pPr>
            <a:r>
              <a:rPr lang="en-US" sz="2700" dirty="0"/>
              <a:t>Contains definition of a </a:t>
            </a:r>
            <a:r>
              <a:rPr lang="en-US" sz="2700" dirty="0">
                <a:solidFill>
                  <a:srgbClr val="FF0000"/>
                </a:solidFill>
              </a:rPr>
              <a:t>private </a:t>
            </a:r>
            <a:r>
              <a:rPr lang="en-US" sz="2700" dirty="0" err="1">
                <a:solidFill>
                  <a:srgbClr val="FF0000"/>
                </a:solidFill>
              </a:rPr>
              <a:t>MagazineNode</a:t>
            </a:r>
            <a:r>
              <a:rPr lang="en-US" sz="2700" dirty="0">
                <a:solidFill>
                  <a:srgbClr val="FF0000"/>
                </a:solidFill>
              </a:rPr>
              <a:t> </a:t>
            </a:r>
            <a:r>
              <a:rPr lang="en-US" sz="2700" dirty="0"/>
              <a:t>class inside</a:t>
            </a:r>
          </a:p>
          <a:p>
            <a:pPr lvl="1">
              <a:spcBef>
                <a:spcPts val="0"/>
              </a:spcBef>
            </a:pPr>
            <a:r>
              <a:rPr lang="en-US" sz="2700" dirty="0">
                <a:solidFill>
                  <a:srgbClr val="FF0000"/>
                </a:solidFill>
              </a:rPr>
              <a:t>MagazineListSingleLinkedTest</a:t>
            </a:r>
            <a:r>
              <a:rPr lang="en-US" sz="2700" dirty="0"/>
              <a:t>.java</a:t>
            </a:r>
          </a:p>
          <a:p>
            <a:pPr lvl="2">
              <a:spcBef>
                <a:spcPts val="0"/>
              </a:spcBef>
            </a:pPr>
            <a:r>
              <a:rPr lang="en-US" sz="2700" dirty="0"/>
              <a:t>A Java application that uses class </a:t>
            </a:r>
            <a:r>
              <a:rPr lang="en-US" sz="2700" dirty="0" err="1"/>
              <a:t>MagazineListSingleLinked</a:t>
            </a:r>
            <a:r>
              <a:rPr lang="en-US" sz="2700" dirty="0"/>
              <a:t>.</a:t>
            </a:r>
          </a:p>
          <a:p>
            <a:pPr marL="1143000" lvl="3" indent="0">
              <a:buNone/>
            </a:pPr>
            <a:endParaRPr lang="en-US" sz="2100" dirty="0"/>
          </a:p>
          <a:p>
            <a:pPr lvl="3"/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837825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sz="4000" b="1" dirty="0"/>
              <a:t>Structure in a </a:t>
            </a:r>
            <a:r>
              <a:rPr lang="en-US" sz="4000" b="1" dirty="0" err="1"/>
              <a:t>MagazineNode</a:t>
            </a:r>
            <a:r>
              <a:rPr lang="en-US" sz="4000" b="1" dirty="0"/>
              <a:t> object for </a:t>
            </a:r>
            <a:r>
              <a:rPr lang="en-US" sz="4000" b="1" dirty="0" err="1"/>
              <a:t>MagazineSingleLinkedList</a:t>
            </a:r>
            <a:r>
              <a:rPr lang="en-US" sz="4000" b="1" dirty="0"/>
              <a:t> class</a:t>
            </a:r>
          </a:p>
        </p:txBody>
      </p:sp>
      <p:sp>
        <p:nvSpPr>
          <p:cNvPr id="9011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81913" y="1616629"/>
            <a:ext cx="8537576" cy="4525963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 err="1">
                <a:solidFill>
                  <a:srgbClr val="FF0000"/>
                </a:solidFill>
              </a:rPr>
              <a:t>MagazineNode</a:t>
            </a:r>
            <a:r>
              <a:rPr lang="en-US" dirty="0"/>
              <a:t> object in a single linked list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Magazine </a:t>
            </a:r>
            <a:r>
              <a:rPr lang="en-US" dirty="0"/>
              <a:t>objects contains: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data item of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Magazine</a:t>
            </a:r>
            <a:r>
              <a:rPr lang="en-US" dirty="0">
                <a:solidFill>
                  <a:srgbClr val="FF0000"/>
                </a:solidFill>
              </a:rPr>
              <a:t> type</a:t>
            </a:r>
          </a:p>
          <a:p>
            <a:pPr lvl="1"/>
            <a:r>
              <a:rPr lang="en-US" dirty="0"/>
              <a:t>one </a:t>
            </a:r>
            <a:r>
              <a:rPr lang="en-US" dirty="0">
                <a:solidFill>
                  <a:srgbClr val="FF0000"/>
                </a:solidFill>
              </a:rPr>
              <a:t>link</a:t>
            </a:r>
            <a:r>
              <a:rPr lang="en-US" dirty="0"/>
              <a:t> referencing the </a:t>
            </a:r>
            <a:r>
              <a:rPr lang="en-US" dirty="0" err="1"/>
              <a:t>MagazineNode</a:t>
            </a:r>
            <a:r>
              <a:rPr lang="en-US" dirty="0"/>
              <a:t> immediately after</a:t>
            </a:r>
          </a:p>
        </p:txBody>
      </p:sp>
      <p:pic>
        <p:nvPicPr>
          <p:cNvPr id="90115" name="Picture 2" descr="C:\Documents and Settings\Administrator\My Documents\Koffman\PPTs\JPEGS\JWCL233_Koffman JPG files\ch02\w0029-n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4641" y="4375704"/>
            <a:ext cx="3048138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1986715" y="5049358"/>
            <a:ext cx="189464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Magazine</a:t>
            </a:r>
            <a:r>
              <a:rPr lang="en-US" b="0" dirty="0"/>
              <a:t>  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09800" y="3988115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MagazineNode</a:t>
            </a:r>
            <a:r>
              <a:rPr lang="en-US" dirty="0"/>
              <a:t> structure: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1952" y="4486232"/>
            <a:ext cx="189464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Magazine</a:t>
            </a:r>
            <a:r>
              <a:rPr lang="en-US" dirty="0" err="1">
                <a:solidFill>
                  <a:srgbClr val="00B0F0"/>
                </a:solidFill>
              </a:rPr>
              <a:t>Node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384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sz="4000" b="1" dirty="0"/>
              <a:t>Structure in a </a:t>
            </a:r>
            <a:r>
              <a:rPr lang="en-US" sz="4000" b="1" dirty="0" err="1"/>
              <a:t>MagazineNode</a:t>
            </a:r>
            <a:r>
              <a:rPr lang="en-US" sz="4000" b="1" dirty="0"/>
              <a:t> object for </a:t>
            </a:r>
            <a:r>
              <a:rPr lang="en-US" sz="4000" b="1" dirty="0" err="1"/>
              <a:t>MagazineSingleLinkedList</a:t>
            </a:r>
            <a:r>
              <a:rPr lang="en-US" sz="4000" b="1" dirty="0"/>
              <a:t> class</a:t>
            </a:r>
          </a:p>
        </p:txBody>
      </p:sp>
      <p:pic>
        <p:nvPicPr>
          <p:cNvPr id="90115" name="Picture 2" descr="C:\Documents and Settings\Administrator\My Documents\Koffman\PPTs\JPEGS\JWCL233_Koffman JPG files\ch02\w0029-n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616" y="2097642"/>
            <a:ext cx="3048138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389690" y="2771296"/>
            <a:ext cx="189464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Magazine</a:t>
            </a:r>
            <a:r>
              <a:rPr lang="en-US" b="0" dirty="0"/>
              <a:t>  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775" y="1710053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MagazineNode</a:t>
            </a:r>
            <a:r>
              <a:rPr lang="en-US" dirty="0"/>
              <a:t> structure: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800" y="1694972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</a:t>
            </a:r>
            <a:r>
              <a:rPr lang="en-US" dirty="0" err="1"/>
              <a:t>MagazineNode</a:t>
            </a:r>
            <a:r>
              <a:rPr lang="en-US" dirty="0"/>
              <a:t> object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927" y="2208170"/>
            <a:ext cx="189464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Magazine</a:t>
            </a:r>
            <a:r>
              <a:rPr lang="en-US" dirty="0" err="1">
                <a:solidFill>
                  <a:srgbClr val="00B0F0"/>
                </a:solidFill>
              </a:rPr>
              <a:t>Node</a:t>
            </a:r>
            <a:endParaRPr lang="en-US" dirty="0">
              <a:solidFill>
                <a:srgbClr val="00B0F0"/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273304" y="2208170"/>
            <a:ext cx="1965643" cy="1421300"/>
            <a:chOff x="5257801" y="4433666"/>
            <a:chExt cx="2057400" cy="1357534"/>
          </a:xfrm>
        </p:grpSpPr>
        <p:grpSp>
          <p:nvGrpSpPr>
            <p:cNvPr id="7" name="Group 6"/>
            <p:cNvGrpSpPr/>
            <p:nvPr/>
          </p:nvGrpSpPr>
          <p:grpSpPr>
            <a:xfrm>
              <a:off x="5257801" y="4433666"/>
              <a:ext cx="2057400" cy="1357534"/>
              <a:chOff x="5257800" y="4433666"/>
              <a:chExt cx="1828800" cy="1357534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5257800" y="4433666"/>
                <a:ext cx="1828800" cy="4431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Node</a:t>
                </a: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5257800" y="4876800"/>
                <a:ext cx="1828800" cy="914400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b="0" dirty="0">
                    <a:solidFill>
                      <a:srgbClr val="92D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data</a:t>
                </a:r>
              </a:p>
              <a:p>
                <a:endParaRPr lang="en-US" sz="8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b="0" dirty="0">
                    <a:solidFill>
                      <a:srgbClr val="92D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next</a:t>
                </a: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6249044" y="5035966"/>
                <a:ext cx="609600" cy="21641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6249044" y="5383647"/>
                <a:ext cx="609600" cy="21641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>
                    <a:solidFill>
                      <a:schemeClr val="tx1"/>
                    </a:solidFill>
                  </a:rPr>
                  <a:t>null</a:t>
                </a:r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5316011" y="4475497"/>
              <a:ext cx="1894642" cy="35276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Magazine</a:t>
              </a:r>
              <a:r>
                <a:rPr lang="en-US" dirty="0" err="1">
                  <a:solidFill>
                    <a:srgbClr val="FF0000"/>
                  </a:solidFill>
                </a:rPr>
                <a:t>Node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171340" y="3829364"/>
            <a:ext cx="1495336" cy="1357534"/>
            <a:chOff x="5257801" y="4433666"/>
            <a:chExt cx="2057400" cy="1357534"/>
          </a:xfrm>
        </p:grpSpPr>
        <p:grpSp>
          <p:nvGrpSpPr>
            <p:cNvPr id="18" name="Group 17"/>
            <p:cNvGrpSpPr/>
            <p:nvPr/>
          </p:nvGrpSpPr>
          <p:grpSpPr>
            <a:xfrm>
              <a:off x="5257801" y="4433666"/>
              <a:ext cx="2057400" cy="1357534"/>
              <a:chOff x="5257800" y="4433666"/>
              <a:chExt cx="1828800" cy="1357534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5257800" y="4433666"/>
                <a:ext cx="1828800" cy="4431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Node</a:t>
                </a: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5257800" y="4876800"/>
                <a:ext cx="1828800" cy="9144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title</a:t>
                </a:r>
              </a:p>
              <a:p>
                <a:endParaRPr lang="en-US" sz="8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editor</a:t>
                </a: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6125359" y="5039693"/>
                <a:ext cx="609600" cy="21641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6125359" y="5426222"/>
                <a:ext cx="609600" cy="21641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5316011" y="4475497"/>
              <a:ext cx="189464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Magazine</a:t>
              </a:r>
              <a:endParaRPr lang="en-US" dirty="0">
                <a:solidFill>
                  <a:srgbClr val="00B0F0"/>
                </a:solidFill>
              </a:endParaRPr>
            </a:p>
          </p:txBody>
        </p:sp>
      </p:grpSp>
      <p:cxnSp>
        <p:nvCxnSpPr>
          <p:cNvPr id="24" name="Straight Arrow Connector 23"/>
          <p:cNvCxnSpPr/>
          <p:nvPr/>
        </p:nvCxnSpPr>
        <p:spPr>
          <a:xfrm>
            <a:off x="6238947" y="4527896"/>
            <a:ext cx="1137097" cy="51606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/>
          <p:nvPr/>
        </p:nvCxnSpPr>
        <p:spPr>
          <a:xfrm rot="16200000" flipH="1">
            <a:off x="5786606" y="3046157"/>
            <a:ext cx="898188" cy="709980"/>
          </a:xfrm>
          <a:prstGeom prst="curvedConnector3">
            <a:avLst>
              <a:gd name="adj1" fmla="val 15005"/>
            </a:avLst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210372" y="4929702"/>
            <a:ext cx="878149" cy="685599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/>
          <p:cNvGrpSpPr/>
          <p:nvPr/>
        </p:nvGrpSpPr>
        <p:grpSpPr>
          <a:xfrm>
            <a:off x="7088521" y="5271493"/>
            <a:ext cx="1669717" cy="1096776"/>
            <a:chOff x="5257801" y="4433666"/>
            <a:chExt cx="2104459" cy="1096776"/>
          </a:xfrm>
        </p:grpSpPr>
        <p:grpSp>
          <p:nvGrpSpPr>
            <p:cNvPr id="40" name="Group 39"/>
            <p:cNvGrpSpPr/>
            <p:nvPr/>
          </p:nvGrpSpPr>
          <p:grpSpPr>
            <a:xfrm>
              <a:off x="5257801" y="4433666"/>
              <a:ext cx="2104459" cy="1096776"/>
              <a:chOff x="5257799" y="4433666"/>
              <a:chExt cx="1870630" cy="1096776"/>
            </a:xfrm>
          </p:grpSpPr>
          <p:sp>
            <p:nvSpPr>
              <p:cNvPr id="42" name="Rectangle 41"/>
              <p:cNvSpPr/>
              <p:nvPr/>
            </p:nvSpPr>
            <p:spPr>
              <a:xfrm>
                <a:off x="5257800" y="4433666"/>
                <a:ext cx="1828800" cy="4431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Node</a:t>
                </a:r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5257799" y="4876800"/>
                <a:ext cx="1870630" cy="65364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value = </a:t>
                </a:r>
              </a:p>
              <a:p>
                <a:r>
                  <a:rPr lang="en-US" sz="14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"Anna Wintour"</a:t>
                </a:r>
              </a:p>
            </p:txBody>
          </p:sp>
        </p:grpSp>
        <p:sp>
          <p:nvSpPr>
            <p:cNvPr id="41" name="TextBox 40"/>
            <p:cNvSpPr txBox="1"/>
            <p:nvPr/>
          </p:nvSpPr>
          <p:spPr>
            <a:xfrm>
              <a:off x="5316012" y="4475497"/>
              <a:ext cx="1721460" cy="33747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String</a:t>
              </a:r>
              <a:endParaRPr lang="en-US" sz="1600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7409381" y="3941560"/>
            <a:ext cx="1529539" cy="1096776"/>
            <a:chOff x="5257801" y="4433666"/>
            <a:chExt cx="2104459" cy="1096776"/>
          </a:xfrm>
        </p:grpSpPr>
        <p:grpSp>
          <p:nvGrpSpPr>
            <p:cNvPr id="48" name="Group 47"/>
            <p:cNvGrpSpPr/>
            <p:nvPr/>
          </p:nvGrpSpPr>
          <p:grpSpPr>
            <a:xfrm>
              <a:off x="5257801" y="4433666"/>
              <a:ext cx="2104459" cy="1096776"/>
              <a:chOff x="5257799" y="4433666"/>
              <a:chExt cx="1870630" cy="1096776"/>
            </a:xfrm>
          </p:grpSpPr>
          <p:sp>
            <p:nvSpPr>
              <p:cNvPr id="50" name="Rectangle 49"/>
              <p:cNvSpPr/>
              <p:nvPr/>
            </p:nvSpPr>
            <p:spPr>
              <a:xfrm>
                <a:off x="5257800" y="4433666"/>
                <a:ext cx="1828800" cy="4431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Node</a:t>
                </a:r>
              </a:p>
            </p:txBody>
          </p:sp>
          <p:sp>
            <p:nvSpPr>
              <p:cNvPr id="51" name="Rectangle 50"/>
              <p:cNvSpPr/>
              <p:nvPr/>
            </p:nvSpPr>
            <p:spPr>
              <a:xfrm>
                <a:off x="5257799" y="4876800"/>
                <a:ext cx="1870630" cy="65364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value = "Vogue"</a:t>
                </a:r>
              </a:p>
            </p:txBody>
          </p:sp>
        </p:grpSp>
        <p:sp>
          <p:nvSpPr>
            <p:cNvPr id="49" name="TextBox 48"/>
            <p:cNvSpPr txBox="1"/>
            <p:nvPr/>
          </p:nvSpPr>
          <p:spPr>
            <a:xfrm>
              <a:off x="5316012" y="4475497"/>
              <a:ext cx="1721460" cy="33747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String</a:t>
              </a:r>
              <a:endParaRPr lang="en-US" sz="1600" dirty="0">
                <a:solidFill>
                  <a:srgbClr val="00B0F0"/>
                </a:solidFill>
              </a:endParaRPr>
            </a:p>
          </p:txBody>
        </p:sp>
      </p:grpSp>
      <p:sp>
        <p:nvSpPr>
          <p:cNvPr id="35" name="Rectangle 34"/>
          <p:cNvSpPr/>
          <p:nvPr/>
        </p:nvSpPr>
        <p:spPr>
          <a:xfrm>
            <a:off x="3705160" y="4113968"/>
            <a:ext cx="667603" cy="31705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3129968" y="4564608"/>
            <a:ext cx="1496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vogueNode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 flipV="1">
            <a:off x="4030692" y="3660459"/>
            <a:ext cx="342071" cy="582270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24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b="1" dirty="0" err="1"/>
              <a:t>MagazineListSingleLinked</a:t>
            </a:r>
            <a:r>
              <a:rPr lang="en-US" b="1" dirty="0"/>
              <a:t> - Example</a:t>
            </a:r>
            <a:endParaRPr lang="en-US" b="1" dirty="0">
              <a:latin typeface="Courier New" pitchFamily="49" charset="0"/>
            </a:endParaRPr>
          </a:p>
        </p:txBody>
      </p:sp>
      <p:sp>
        <p:nvSpPr>
          <p:cNvPr id="97297" name="Rectangle 5"/>
          <p:cNvSpPr>
            <a:spLocks noChangeArrowheads="1"/>
          </p:cNvSpPr>
          <p:nvPr/>
        </p:nvSpPr>
        <p:spPr bwMode="auto">
          <a:xfrm>
            <a:off x="1385824" y="2436976"/>
            <a:ext cx="2081609" cy="762000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600" dirty="0">
                <a:solidFill>
                  <a:srgbClr val="92D050"/>
                </a:solidFill>
                <a:latin typeface="Courier New" pitchFamily="49" charset="0"/>
              </a:rPr>
              <a:t>head =</a:t>
            </a:r>
          </a:p>
          <a:p>
            <a:r>
              <a:rPr lang="en-US" sz="1600" dirty="0">
                <a:solidFill>
                  <a:srgbClr val="92D050"/>
                </a:solidFill>
                <a:latin typeface="Courier New" pitchFamily="49" charset="0"/>
              </a:rPr>
              <a:t>size = 2    </a:t>
            </a:r>
          </a:p>
        </p:txBody>
      </p:sp>
      <p:sp>
        <p:nvSpPr>
          <p:cNvPr id="97298" name="Rectangle 6"/>
          <p:cNvSpPr>
            <a:spLocks noChangeArrowheads="1"/>
          </p:cNvSpPr>
          <p:nvPr/>
        </p:nvSpPr>
        <p:spPr bwMode="auto">
          <a:xfrm>
            <a:off x="2476833" y="2613869"/>
            <a:ext cx="762000" cy="141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7296" name="Rectangle 10"/>
          <p:cNvSpPr>
            <a:spLocks noChangeArrowheads="1"/>
          </p:cNvSpPr>
          <p:nvPr/>
        </p:nvSpPr>
        <p:spPr bwMode="auto">
          <a:xfrm>
            <a:off x="1385824" y="1843080"/>
            <a:ext cx="2081609" cy="561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 err="1">
                <a:solidFill>
                  <a:schemeClr val="accent2"/>
                </a:solidFill>
                <a:latin typeface="Courier New" pitchFamily="49" charset="0"/>
              </a:rPr>
              <a:t>MagazineList</a:t>
            </a:r>
            <a:endParaRPr lang="en-US" sz="1600" dirty="0">
              <a:solidFill>
                <a:schemeClr val="accent2"/>
              </a:solidFill>
              <a:latin typeface="Courier New" pitchFamily="49" charset="0"/>
            </a:endParaRPr>
          </a:p>
          <a:p>
            <a:pPr algn="ctr"/>
            <a:r>
              <a:rPr lang="en-US" sz="1600" dirty="0" err="1">
                <a:solidFill>
                  <a:schemeClr val="accent2"/>
                </a:solidFill>
                <a:latin typeface="Courier New" pitchFamily="49" charset="0"/>
              </a:rPr>
              <a:t>SingleLinked</a:t>
            </a:r>
            <a:endParaRPr lang="en-US" sz="1600" dirty="0">
              <a:solidFill>
                <a:schemeClr val="accent2"/>
              </a:solidFill>
              <a:latin typeface="Courier New" pitchFamily="49" charset="0"/>
            </a:endParaRPr>
          </a:p>
        </p:txBody>
      </p:sp>
      <p:grpSp>
        <p:nvGrpSpPr>
          <p:cNvPr id="97283" name="Group 24"/>
          <p:cNvGrpSpPr>
            <a:grpSpLocks/>
          </p:cNvGrpSpPr>
          <p:nvPr/>
        </p:nvGrpSpPr>
        <p:grpSpPr bwMode="auto">
          <a:xfrm>
            <a:off x="4153233" y="1714500"/>
            <a:ext cx="1828800" cy="1295400"/>
            <a:chOff x="2064" y="1488"/>
            <a:chExt cx="1152" cy="816"/>
          </a:xfrm>
        </p:grpSpPr>
        <p:grpSp>
          <p:nvGrpSpPr>
            <p:cNvPr id="97291" name="Group 23"/>
            <p:cNvGrpSpPr>
              <a:grpSpLocks/>
            </p:cNvGrpSpPr>
            <p:nvPr/>
          </p:nvGrpSpPr>
          <p:grpSpPr bwMode="auto">
            <a:xfrm>
              <a:off x="2064" y="1824"/>
              <a:ext cx="1152" cy="480"/>
              <a:chOff x="2064" y="1824"/>
              <a:chExt cx="1152" cy="480"/>
            </a:xfrm>
          </p:grpSpPr>
          <p:sp>
            <p:nvSpPr>
              <p:cNvPr id="97293" name="Rectangle 20"/>
              <p:cNvSpPr>
                <a:spLocks noChangeArrowheads="1"/>
              </p:cNvSpPr>
              <p:nvPr/>
            </p:nvSpPr>
            <p:spPr bwMode="auto">
              <a:xfrm>
                <a:off x="2064" y="1824"/>
                <a:ext cx="1152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next =</a:t>
                </a:r>
              </a:p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data =</a:t>
                </a:r>
              </a:p>
            </p:txBody>
          </p:sp>
          <p:sp>
            <p:nvSpPr>
              <p:cNvPr id="97294" name="Rectangle 21"/>
              <p:cNvSpPr>
                <a:spLocks noChangeArrowheads="1"/>
              </p:cNvSpPr>
              <p:nvPr/>
            </p:nvSpPr>
            <p:spPr bwMode="auto">
              <a:xfrm>
                <a:off x="2688" y="1944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7292" name="Rectangle 22"/>
            <p:cNvSpPr>
              <a:spLocks noChangeArrowheads="1"/>
            </p:cNvSpPr>
            <p:nvPr/>
          </p:nvSpPr>
          <p:spPr bwMode="auto">
            <a:xfrm>
              <a:off x="2064" y="1488"/>
              <a:ext cx="115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 err="1">
                  <a:solidFill>
                    <a:schemeClr val="accent2"/>
                  </a:solidFill>
                  <a:latin typeface="Courier New" pitchFamily="49" charset="0"/>
                </a:rPr>
                <a:t>MagazineNode</a:t>
              </a:r>
              <a:endParaRPr lang="en-US" sz="1600" dirty="0">
                <a:solidFill>
                  <a:schemeClr val="accent2"/>
                </a:solidFill>
                <a:latin typeface="Courier New" pitchFamily="49" charset="0"/>
              </a:endParaRPr>
            </a:p>
          </p:txBody>
        </p:sp>
      </p:grpSp>
      <p:grpSp>
        <p:nvGrpSpPr>
          <p:cNvPr id="97284" name="Group 25"/>
          <p:cNvGrpSpPr>
            <a:grpSpLocks/>
          </p:cNvGrpSpPr>
          <p:nvPr/>
        </p:nvGrpSpPr>
        <p:grpSpPr bwMode="auto">
          <a:xfrm>
            <a:off x="6792216" y="1600200"/>
            <a:ext cx="1828800" cy="1295400"/>
            <a:chOff x="2064" y="1488"/>
            <a:chExt cx="1152" cy="816"/>
          </a:xfrm>
        </p:grpSpPr>
        <p:grpSp>
          <p:nvGrpSpPr>
            <p:cNvPr id="97287" name="Group 26"/>
            <p:cNvGrpSpPr>
              <a:grpSpLocks/>
            </p:cNvGrpSpPr>
            <p:nvPr/>
          </p:nvGrpSpPr>
          <p:grpSpPr bwMode="auto">
            <a:xfrm>
              <a:off x="2064" y="1824"/>
              <a:ext cx="1152" cy="480"/>
              <a:chOff x="2064" y="1824"/>
              <a:chExt cx="1152" cy="480"/>
            </a:xfrm>
          </p:grpSpPr>
          <p:sp>
            <p:nvSpPr>
              <p:cNvPr id="97289" name="Rectangle 27"/>
              <p:cNvSpPr>
                <a:spLocks noChangeArrowheads="1"/>
              </p:cNvSpPr>
              <p:nvPr/>
            </p:nvSpPr>
            <p:spPr bwMode="auto">
              <a:xfrm>
                <a:off x="2064" y="1824"/>
                <a:ext cx="1152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next =</a:t>
                </a:r>
              </a:p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data =</a:t>
                </a:r>
              </a:p>
            </p:txBody>
          </p:sp>
          <p:sp>
            <p:nvSpPr>
              <p:cNvPr id="97290" name="Rectangle 28"/>
              <p:cNvSpPr>
                <a:spLocks noChangeArrowheads="1"/>
              </p:cNvSpPr>
              <p:nvPr/>
            </p:nvSpPr>
            <p:spPr bwMode="auto">
              <a:xfrm>
                <a:off x="2688" y="1944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/>
                  <a:t>null</a:t>
                </a:r>
              </a:p>
            </p:txBody>
          </p:sp>
        </p:grpSp>
        <p:sp>
          <p:nvSpPr>
            <p:cNvPr id="97288" name="Rectangle 29"/>
            <p:cNvSpPr>
              <a:spLocks noChangeArrowheads="1"/>
            </p:cNvSpPr>
            <p:nvPr/>
          </p:nvSpPr>
          <p:spPr bwMode="auto">
            <a:xfrm>
              <a:off x="2064" y="1488"/>
              <a:ext cx="115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 err="1">
                  <a:solidFill>
                    <a:schemeClr val="accent2"/>
                  </a:solidFill>
                  <a:latin typeface="Courier New" pitchFamily="49" charset="0"/>
                </a:rPr>
                <a:t>MagazineNode</a:t>
              </a:r>
              <a:endParaRPr lang="en-US" sz="1600" dirty="0">
                <a:solidFill>
                  <a:schemeClr val="accent2"/>
                </a:solidFill>
                <a:latin typeface="Courier New" pitchFamily="49" charset="0"/>
              </a:endParaRPr>
            </a:p>
          </p:txBody>
        </p:sp>
      </p:grpSp>
      <p:cxnSp>
        <p:nvCxnSpPr>
          <p:cNvPr id="97285" name="AutoShape 35"/>
          <p:cNvCxnSpPr>
            <a:cxnSpLocks noChangeShapeType="1"/>
          </p:cNvCxnSpPr>
          <p:nvPr/>
        </p:nvCxnSpPr>
        <p:spPr bwMode="auto">
          <a:xfrm rot="5400000" flipH="1" flipV="1">
            <a:off x="3238833" y="1783195"/>
            <a:ext cx="609600" cy="1219200"/>
          </a:xfrm>
          <a:prstGeom prst="curvedConnector4">
            <a:avLst>
              <a:gd name="adj1" fmla="val 1560"/>
              <a:gd name="adj2" fmla="val 6562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97286" name="AutoShape 36"/>
          <p:cNvCxnSpPr>
            <a:cxnSpLocks noChangeShapeType="1"/>
          </p:cNvCxnSpPr>
          <p:nvPr/>
        </p:nvCxnSpPr>
        <p:spPr bwMode="auto">
          <a:xfrm rot="5400000" flipH="1" flipV="1">
            <a:off x="5954016" y="1657350"/>
            <a:ext cx="609600" cy="1066800"/>
          </a:xfrm>
          <a:prstGeom prst="curvedConnector4">
            <a:avLst>
              <a:gd name="adj1" fmla="val 1560"/>
              <a:gd name="adj2" fmla="val 6785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2" name="TextBox 1"/>
          <p:cNvSpPr txBox="1"/>
          <p:nvPr/>
        </p:nvSpPr>
        <p:spPr>
          <a:xfrm>
            <a:off x="27928" y="1489264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myMagList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87776" y="1859395"/>
            <a:ext cx="838200" cy="4572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932248" y="2098723"/>
            <a:ext cx="439352" cy="33156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1"/>
          <p:cNvSpPr>
            <a:spLocks noChangeArrowheads="1"/>
          </p:cNvSpPr>
          <p:nvPr/>
        </p:nvSpPr>
        <p:spPr bwMode="auto">
          <a:xfrm>
            <a:off x="5137150" y="2638909"/>
            <a:ext cx="762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7782816" y="2602983"/>
            <a:ext cx="762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2149694" y="3805340"/>
            <a:ext cx="1495336" cy="1357534"/>
            <a:chOff x="5257801" y="4433666"/>
            <a:chExt cx="2057400" cy="1357534"/>
          </a:xfrm>
        </p:grpSpPr>
        <p:grpSp>
          <p:nvGrpSpPr>
            <p:cNvPr id="41" name="Group 40"/>
            <p:cNvGrpSpPr/>
            <p:nvPr/>
          </p:nvGrpSpPr>
          <p:grpSpPr>
            <a:xfrm>
              <a:off x="5257801" y="4433666"/>
              <a:ext cx="2057400" cy="1357534"/>
              <a:chOff x="5257800" y="4433666"/>
              <a:chExt cx="1828800" cy="1357534"/>
            </a:xfrm>
          </p:grpSpPr>
          <p:sp>
            <p:nvSpPr>
              <p:cNvPr id="43" name="Rectangle 42"/>
              <p:cNvSpPr/>
              <p:nvPr/>
            </p:nvSpPr>
            <p:spPr>
              <a:xfrm>
                <a:off x="5257800" y="4433666"/>
                <a:ext cx="1828800" cy="4431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Node</a:t>
                </a:r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5257800" y="4876800"/>
                <a:ext cx="1828800" cy="9144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title</a:t>
                </a:r>
              </a:p>
              <a:p>
                <a:endParaRPr lang="en-US" sz="8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editor</a:t>
                </a:r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6125359" y="5039693"/>
                <a:ext cx="609600" cy="21641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/>
              <p:cNvSpPr/>
              <p:nvPr/>
            </p:nvSpPr>
            <p:spPr>
              <a:xfrm>
                <a:off x="6125358" y="5402626"/>
                <a:ext cx="609600" cy="21641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2" name="TextBox 41"/>
            <p:cNvSpPr txBox="1"/>
            <p:nvPr/>
          </p:nvSpPr>
          <p:spPr>
            <a:xfrm>
              <a:off x="5316012" y="4475497"/>
              <a:ext cx="1894642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Magazine</a:t>
              </a:r>
              <a:endParaRPr lang="en-US" sz="1600" dirty="0">
                <a:solidFill>
                  <a:srgbClr val="00B0F0"/>
                </a:solidFill>
              </a:endParaRPr>
            </a:p>
          </p:txBody>
        </p:sp>
      </p:grpSp>
      <p:cxnSp>
        <p:nvCxnSpPr>
          <p:cNvPr id="47" name="Straight Arrow Connector 46"/>
          <p:cNvCxnSpPr/>
          <p:nvPr/>
        </p:nvCxnSpPr>
        <p:spPr>
          <a:xfrm>
            <a:off x="3222264" y="4508531"/>
            <a:ext cx="422766" cy="896085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2916657" y="4910337"/>
            <a:ext cx="277032" cy="477920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/>
        </p:nvGrpSpPr>
        <p:grpSpPr>
          <a:xfrm>
            <a:off x="1475539" y="5385240"/>
            <a:ext cx="1669718" cy="1087875"/>
            <a:chOff x="5257800" y="4442567"/>
            <a:chExt cx="2104460" cy="1087875"/>
          </a:xfrm>
        </p:grpSpPr>
        <p:grpSp>
          <p:nvGrpSpPr>
            <p:cNvPr id="50" name="Group 49"/>
            <p:cNvGrpSpPr/>
            <p:nvPr/>
          </p:nvGrpSpPr>
          <p:grpSpPr>
            <a:xfrm>
              <a:off x="5257800" y="4442567"/>
              <a:ext cx="2104460" cy="1087875"/>
              <a:chOff x="5257798" y="4442567"/>
              <a:chExt cx="1870631" cy="1087875"/>
            </a:xfrm>
          </p:grpSpPr>
          <p:sp>
            <p:nvSpPr>
              <p:cNvPr id="52" name="Rectangle 51"/>
              <p:cNvSpPr/>
              <p:nvPr/>
            </p:nvSpPr>
            <p:spPr>
              <a:xfrm>
                <a:off x="5257798" y="4442567"/>
                <a:ext cx="1870630" cy="4431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Node</a:t>
                </a:r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5257799" y="4876800"/>
                <a:ext cx="1870630" cy="65364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value =  "Anna"</a:t>
                </a:r>
              </a:p>
            </p:txBody>
          </p:sp>
        </p:grpSp>
        <p:sp>
          <p:nvSpPr>
            <p:cNvPr id="51" name="TextBox 50"/>
            <p:cNvSpPr txBox="1"/>
            <p:nvPr/>
          </p:nvSpPr>
          <p:spPr>
            <a:xfrm>
              <a:off x="5316012" y="4475497"/>
              <a:ext cx="172145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String</a:t>
              </a:r>
              <a:endParaRPr lang="en-US" sz="1400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3441454" y="5385240"/>
            <a:ext cx="1669718" cy="1087875"/>
            <a:chOff x="5257800" y="4442567"/>
            <a:chExt cx="2104460" cy="1087875"/>
          </a:xfrm>
        </p:grpSpPr>
        <p:grpSp>
          <p:nvGrpSpPr>
            <p:cNvPr id="61" name="Group 60"/>
            <p:cNvGrpSpPr/>
            <p:nvPr/>
          </p:nvGrpSpPr>
          <p:grpSpPr>
            <a:xfrm>
              <a:off x="5257800" y="4442567"/>
              <a:ext cx="2104460" cy="1087875"/>
              <a:chOff x="5257798" y="4442567"/>
              <a:chExt cx="1870631" cy="1087875"/>
            </a:xfrm>
          </p:grpSpPr>
          <p:sp>
            <p:nvSpPr>
              <p:cNvPr id="63" name="Rectangle 62"/>
              <p:cNvSpPr/>
              <p:nvPr/>
            </p:nvSpPr>
            <p:spPr>
              <a:xfrm>
                <a:off x="5257798" y="4442567"/>
                <a:ext cx="1870630" cy="4431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Node</a:t>
                </a:r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5257799" y="4876800"/>
                <a:ext cx="1870630" cy="65364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value = “Vogue"</a:t>
                </a:r>
              </a:p>
            </p:txBody>
          </p:sp>
        </p:grpSp>
        <p:sp>
          <p:nvSpPr>
            <p:cNvPr id="62" name="TextBox 61"/>
            <p:cNvSpPr txBox="1"/>
            <p:nvPr/>
          </p:nvSpPr>
          <p:spPr>
            <a:xfrm>
              <a:off x="5316012" y="4475497"/>
              <a:ext cx="172145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String</a:t>
              </a:r>
              <a:endParaRPr lang="en-US" sz="1400" dirty="0">
                <a:solidFill>
                  <a:srgbClr val="00B0F0"/>
                </a:solidFill>
              </a:endParaRPr>
            </a:p>
          </p:txBody>
        </p:sp>
      </p:grpSp>
      <p:cxnSp>
        <p:nvCxnSpPr>
          <p:cNvPr id="69" name="Straight Arrow Connector 68"/>
          <p:cNvCxnSpPr/>
          <p:nvPr/>
        </p:nvCxnSpPr>
        <p:spPr>
          <a:xfrm flipH="1">
            <a:off x="3255701" y="2710470"/>
            <a:ext cx="2078299" cy="109487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1" name="Group 70"/>
          <p:cNvGrpSpPr/>
          <p:nvPr/>
        </p:nvGrpSpPr>
        <p:grpSpPr>
          <a:xfrm>
            <a:off x="6012726" y="3261317"/>
            <a:ext cx="1495336" cy="1357534"/>
            <a:chOff x="5257801" y="4433666"/>
            <a:chExt cx="2057400" cy="1357534"/>
          </a:xfrm>
        </p:grpSpPr>
        <p:grpSp>
          <p:nvGrpSpPr>
            <p:cNvPr id="72" name="Group 71"/>
            <p:cNvGrpSpPr/>
            <p:nvPr/>
          </p:nvGrpSpPr>
          <p:grpSpPr>
            <a:xfrm>
              <a:off x="5257801" y="4433666"/>
              <a:ext cx="2057400" cy="1357534"/>
              <a:chOff x="5257800" y="4433666"/>
              <a:chExt cx="1828800" cy="1357534"/>
            </a:xfrm>
          </p:grpSpPr>
          <p:sp>
            <p:nvSpPr>
              <p:cNvPr id="74" name="Rectangle 73"/>
              <p:cNvSpPr/>
              <p:nvPr/>
            </p:nvSpPr>
            <p:spPr>
              <a:xfrm>
                <a:off x="5257800" y="4433666"/>
                <a:ext cx="1828800" cy="4431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Node</a:t>
                </a:r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5257800" y="4876800"/>
                <a:ext cx="1828800" cy="9144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title</a:t>
                </a:r>
              </a:p>
              <a:p>
                <a:endParaRPr lang="en-US" sz="8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editor</a:t>
                </a: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6125359" y="5039693"/>
                <a:ext cx="609600" cy="21641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6125358" y="5402626"/>
                <a:ext cx="609600" cy="21641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3" name="TextBox 72"/>
            <p:cNvSpPr txBox="1"/>
            <p:nvPr/>
          </p:nvSpPr>
          <p:spPr>
            <a:xfrm>
              <a:off x="5316012" y="4475497"/>
              <a:ext cx="1894642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Magazine</a:t>
              </a:r>
              <a:endParaRPr lang="en-US" sz="1600" dirty="0">
                <a:solidFill>
                  <a:srgbClr val="00B0F0"/>
                </a:solidFill>
              </a:endParaRPr>
            </a:p>
          </p:txBody>
        </p:sp>
      </p:grpSp>
      <p:cxnSp>
        <p:nvCxnSpPr>
          <p:cNvPr id="78" name="Straight Arrow Connector 77"/>
          <p:cNvCxnSpPr/>
          <p:nvPr/>
        </p:nvCxnSpPr>
        <p:spPr>
          <a:xfrm>
            <a:off x="7085296" y="3964508"/>
            <a:ext cx="422766" cy="896085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H="1">
            <a:off x="6779689" y="4366314"/>
            <a:ext cx="277032" cy="477920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/>
          <p:cNvGrpSpPr/>
          <p:nvPr/>
        </p:nvGrpSpPr>
        <p:grpSpPr>
          <a:xfrm>
            <a:off x="5338571" y="4841217"/>
            <a:ext cx="1669718" cy="1087875"/>
            <a:chOff x="5257800" y="4442567"/>
            <a:chExt cx="2104460" cy="1087875"/>
          </a:xfrm>
        </p:grpSpPr>
        <p:grpSp>
          <p:nvGrpSpPr>
            <p:cNvPr id="81" name="Group 80"/>
            <p:cNvGrpSpPr/>
            <p:nvPr/>
          </p:nvGrpSpPr>
          <p:grpSpPr>
            <a:xfrm>
              <a:off x="5257800" y="4442567"/>
              <a:ext cx="2104460" cy="1087875"/>
              <a:chOff x="5257798" y="4442567"/>
              <a:chExt cx="1870631" cy="1087875"/>
            </a:xfrm>
          </p:grpSpPr>
          <p:sp>
            <p:nvSpPr>
              <p:cNvPr id="83" name="Rectangle 82"/>
              <p:cNvSpPr/>
              <p:nvPr/>
            </p:nvSpPr>
            <p:spPr>
              <a:xfrm>
                <a:off x="5257798" y="4442567"/>
                <a:ext cx="1870630" cy="4431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Node</a:t>
                </a:r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5257799" y="4876800"/>
                <a:ext cx="1870630" cy="65364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value = “Eduard"</a:t>
                </a:r>
              </a:p>
            </p:txBody>
          </p:sp>
        </p:grpSp>
        <p:sp>
          <p:nvSpPr>
            <p:cNvPr id="82" name="TextBox 81"/>
            <p:cNvSpPr txBox="1"/>
            <p:nvPr/>
          </p:nvSpPr>
          <p:spPr>
            <a:xfrm>
              <a:off x="5316012" y="4475497"/>
              <a:ext cx="172145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String</a:t>
              </a:r>
              <a:endParaRPr lang="en-US" sz="1400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7304486" y="4841217"/>
            <a:ext cx="1669718" cy="1087875"/>
            <a:chOff x="5257800" y="4442567"/>
            <a:chExt cx="2104460" cy="1087875"/>
          </a:xfrm>
        </p:grpSpPr>
        <p:grpSp>
          <p:nvGrpSpPr>
            <p:cNvPr id="86" name="Group 85"/>
            <p:cNvGrpSpPr/>
            <p:nvPr/>
          </p:nvGrpSpPr>
          <p:grpSpPr>
            <a:xfrm>
              <a:off x="5257800" y="4442567"/>
              <a:ext cx="2104460" cy="1087875"/>
              <a:chOff x="5257798" y="4442567"/>
              <a:chExt cx="1870631" cy="1087875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5257798" y="4442567"/>
                <a:ext cx="1870630" cy="4431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Node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5257799" y="4876800"/>
                <a:ext cx="1870630" cy="65364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value = “Times"</a:t>
                </a:r>
              </a:p>
            </p:txBody>
          </p:sp>
        </p:grpSp>
        <p:sp>
          <p:nvSpPr>
            <p:cNvPr id="87" name="TextBox 86"/>
            <p:cNvSpPr txBox="1"/>
            <p:nvPr/>
          </p:nvSpPr>
          <p:spPr>
            <a:xfrm>
              <a:off x="5316012" y="4475497"/>
              <a:ext cx="172145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String</a:t>
              </a:r>
              <a:endParaRPr lang="en-US" sz="1400" dirty="0">
                <a:solidFill>
                  <a:srgbClr val="00B0F0"/>
                </a:solidFill>
              </a:endParaRPr>
            </a:p>
          </p:txBody>
        </p:sp>
      </p:grpSp>
      <p:cxnSp>
        <p:nvCxnSpPr>
          <p:cNvPr id="90" name="Straight Arrow Connector 89"/>
          <p:cNvCxnSpPr/>
          <p:nvPr/>
        </p:nvCxnSpPr>
        <p:spPr>
          <a:xfrm flipH="1">
            <a:off x="7550370" y="2691028"/>
            <a:ext cx="691890" cy="910735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111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itle 3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b="1" dirty="0"/>
              <a:t>Implementing Generic Single Linked Lists</a:t>
            </a:r>
          </a:p>
        </p:txBody>
      </p:sp>
      <p:sp>
        <p:nvSpPr>
          <p:cNvPr id="89090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676400"/>
            <a:ext cx="8991600" cy="44958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Use generics in the implementation</a:t>
            </a:r>
          </a:p>
          <a:p>
            <a:pPr>
              <a:spcBef>
                <a:spcPts val="0"/>
              </a:spcBef>
            </a:pPr>
            <a:r>
              <a:rPr lang="en-US" dirty="0"/>
              <a:t>Node stores a reference to an object of any Java class type</a:t>
            </a:r>
          </a:p>
          <a:p>
            <a:pPr lvl="1">
              <a:spcBef>
                <a:spcPts val="0"/>
              </a:spcBef>
            </a:pPr>
            <a:r>
              <a:rPr lang="en-US" dirty="0"/>
              <a:t>Use type parameter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E,</a:t>
            </a:r>
            <a:r>
              <a:rPr lang="en-US" dirty="0" err="1"/>
              <a:t>representing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Magazine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Mark classes as generic: Node</a:t>
            </a:r>
            <a:r>
              <a:rPr lang="en-US" dirty="0">
                <a:solidFill>
                  <a:srgbClr val="FF0000"/>
                </a:solidFill>
              </a:rPr>
              <a:t>&lt;E&gt;, </a:t>
            </a:r>
            <a:r>
              <a:rPr lang="en-US" dirty="0" err="1"/>
              <a:t>SingleLinkedList</a:t>
            </a:r>
            <a:r>
              <a:rPr lang="en-US" dirty="0">
                <a:solidFill>
                  <a:srgbClr val="FF0000"/>
                </a:solidFill>
              </a:rPr>
              <a:t>&lt;E&gt;</a:t>
            </a:r>
          </a:p>
          <a:p>
            <a:pPr>
              <a:spcBef>
                <a:spcPts val="0"/>
              </a:spcBef>
            </a:pPr>
            <a:r>
              <a:rPr lang="en-US" dirty="0"/>
              <a:t>Package </a:t>
            </a:r>
            <a:r>
              <a:rPr lang="en-US" dirty="0" err="1"/>
              <a:t>linkedlist_</a:t>
            </a:r>
            <a:r>
              <a:rPr lang="en-US" dirty="0" err="1">
                <a:solidFill>
                  <a:srgbClr val="FF0000"/>
                </a:solidFill>
              </a:rPr>
              <a:t>generic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SingleLinkedList</a:t>
            </a:r>
            <a:r>
              <a:rPr lang="en-US" sz="2400" dirty="0"/>
              <a:t>.java</a:t>
            </a:r>
          </a:p>
          <a:p>
            <a:pPr lvl="2">
              <a:spcBef>
                <a:spcPts val="0"/>
              </a:spcBef>
            </a:pPr>
            <a:r>
              <a:rPr lang="en-US" sz="2400" dirty="0"/>
              <a:t>Definition of single linked list of any Java objects</a:t>
            </a:r>
          </a:p>
          <a:p>
            <a:pPr lvl="2">
              <a:spcBef>
                <a:spcPts val="0"/>
              </a:spcBef>
            </a:pPr>
            <a:r>
              <a:rPr lang="en-US" sz="2400" dirty="0"/>
              <a:t>Contains definition of a </a:t>
            </a:r>
            <a:r>
              <a:rPr lang="en-US" sz="2400" dirty="0">
                <a:solidFill>
                  <a:srgbClr val="FF0000"/>
                </a:solidFill>
              </a:rPr>
              <a:t>private Node&lt;E&gt; </a:t>
            </a:r>
            <a:r>
              <a:rPr lang="en-US" sz="2400" dirty="0"/>
              <a:t>class inside</a:t>
            </a:r>
          </a:p>
          <a:p>
            <a:pPr lvl="1">
              <a:spcBef>
                <a:spcPts val="0"/>
              </a:spcBef>
            </a:pPr>
            <a:r>
              <a:rPr lang="en-US" sz="2400" dirty="0">
                <a:solidFill>
                  <a:srgbClr val="FF0000"/>
                </a:solidFill>
              </a:rPr>
              <a:t>SingleLinkedListTest</a:t>
            </a:r>
            <a:r>
              <a:rPr lang="en-US" sz="2400" dirty="0"/>
              <a:t>.java</a:t>
            </a:r>
          </a:p>
          <a:p>
            <a:pPr lvl="2">
              <a:spcBef>
                <a:spcPts val="0"/>
              </a:spcBef>
            </a:pPr>
            <a:r>
              <a:rPr lang="en-US" sz="2400" dirty="0"/>
              <a:t>A Java application that uses class </a:t>
            </a:r>
            <a:r>
              <a:rPr lang="en-US" sz="2400" dirty="0" err="1">
                <a:solidFill>
                  <a:srgbClr val="FF0000"/>
                </a:solidFill>
              </a:rPr>
              <a:t>SingleLinkedList</a:t>
            </a:r>
            <a:r>
              <a:rPr lang="en-US" sz="2400" dirty="0">
                <a:solidFill>
                  <a:srgbClr val="FF0000"/>
                </a:solidFill>
              </a:rPr>
              <a:t>&lt;E&gt;</a:t>
            </a:r>
          </a:p>
          <a:p>
            <a:pPr lvl="1">
              <a:spcBef>
                <a:spcPts val="0"/>
              </a:spcBef>
            </a:pPr>
            <a:endParaRPr lang="en-US" sz="2700" dirty="0"/>
          </a:p>
          <a:p>
            <a:pPr lvl="2"/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90239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b="1" dirty="0"/>
              <a:t>A Generic Single Linked List Node</a:t>
            </a:r>
          </a:p>
        </p:txBody>
      </p:sp>
      <p:sp>
        <p:nvSpPr>
          <p:cNvPr id="9011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848600" cy="4525963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node</a:t>
            </a:r>
            <a:r>
              <a:rPr lang="en-US" dirty="0"/>
              <a:t> can contain: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data item</a:t>
            </a:r>
          </a:p>
          <a:p>
            <a:pPr lvl="1"/>
            <a:r>
              <a:rPr lang="en-US" dirty="0"/>
              <a:t>one link</a:t>
            </a:r>
          </a:p>
          <a:p>
            <a:r>
              <a:rPr lang="en-US" dirty="0"/>
              <a:t>A</a:t>
            </a:r>
            <a:r>
              <a:rPr lang="en-US" dirty="0">
                <a:solidFill>
                  <a:srgbClr val="FF0000"/>
                </a:solidFill>
              </a:rPr>
              <a:t> link </a:t>
            </a:r>
            <a:r>
              <a:rPr lang="en-US" dirty="0"/>
              <a:t>is a </a:t>
            </a:r>
            <a:r>
              <a:rPr lang="en-US" dirty="0">
                <a:solidFill>
                  <a:srgbClr val="FF0000"/>
                </a:solidFill>
              </a:rPr>
              <a:t>reference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to </a:t>
            </a:r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list node</a:t>
            </a:r>
          </a:p>
          <a:p>
            <a:r>
              <a:rPr lang="en-US" dirty="0"/>
              <a:t>In our structure, the node contains </a:t>
            </a:r>
          </a:p>
          <a:p>
            <a:pPr lvl="1"/>
            <a:r>
              <a:rPr lang="en-US" dirty="0"/>
              <a:t>a data field named </a:t>
            </a:r>
            <a:r>
              <a:rPr lang="en-US" sz="2100" dirty="0">
                <a:latin typeface="Courier New" pitchFamily="49" charset="0"/>
                <a:cs typeface="Courier New" pitchFamily="49" charset="0"/>
              </a:rPr>
              <a:t>data</a:t>
            </a:r>
            <a:r>
              <a:rPr lang="en-US" sz="2100" dirty="0"/>
              <a:t> </a:t>
            </a:r>
            <a:r>
              <a:rPr lang="en-US" dirty="0"/>
              <a:t>of type </a:t>
            </a:r>
            <a:r>
              <a:rPr lang="en-US" sz="2100" dirty="0">
                <a:latin typeface="Courier New" pitchFamily="49" charset="0"/>
                <a:cs typeface="Courier New" pitchFamily="49" charset="0"/>
              </a:rPr>
              <a:t>E</a:t>
            </a:r>
          </a:p>
          <a:p>
            <a:pPr lvl="2"/>
            <a:r>
              <a:rPr lang="en-US" sz="2000" dirty="0">
                <a:latin typeface="Courier New" pitchFamily="49" charset="0"/>
                <a:cs typeface="Courier New" pitchFamily="49" charset="0"/>
              </a:rPr>
              <a:t>E </a:t>
            </a:r>
            <a:r>
              <a:rPr lang="en-US" sz="2000" dirty="0">
                <a:cs typeface="Courier New" pitchFamily="49" charset="0"/>
              </a:rPr>
              <a:t>– generic element type</a:t>
            </a:r>
          </a:p>
          <a:p>
            <a:pPr lvl="2"/>
            <a:r>
              <a:rPr lang="en-US" sz="2000" dirty="0">
                <a:latin typeface="Courier New" pitchFamily="49" charset="0"/>
                <a:cs typeface="Courier New" pitchFamily="49" charset="0"/>
              </a:rPr>
              <a:t>E</a:t>
            </a:r>
            <a:r>
              <a:rPr lang="en-US" sz="2000" dirty="0">
                <a:cs typeface="Courier New" pitchFamily="49" charset="0"/>
              </a:rPr>
              <a:t> can be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sz="2000" dirty="0">
                <a:cs typeface="Courier New" pitchFamily="49" charset="0"/>
              </a:rPr>
              <a:t>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2000" dirty="0">
                <a:cs typeface="Courier New" pitchFamily="49" charset="0"/>
              </a:rPr>
              <a:t>,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sz="2000" dirty="0">
                <a:cs typeface="Courier New" pitchFamily="49" charset="0"/>
              </a:rPr>
              <a:t> </a:t>
            </a:r>
            <a:r>
              <a:rPr lang="en-US" sz="2000" dirty="0" err="1">
                <a:cs typeface="Courier New" pitchFamily="49" charset="0"/>
              </a:rPr>
              <a:t>etc</a:t>
            </a:r>
            <a:endParaRPr lang="en-US" sz="2000" dirty="0">
              <a:cs typeface="Courier New" pitchFamily="49" charset="0"/>
            </a:endParaRPr>
          </a:p>
          <a:p>
            <a:pPr lvl="1"/>
            <a:r>
              <a:rPr lang="en-US" dirty="0"/>
              <a:t>and a reference to the next node, named </a:t>
            </a:r>
            <a:r>
              <a:rPr lang="en-US" sz="2100" dirty="0">
                <a:latin typeface="Courier New" pitchFamily="49" charset="0"/>
                <a:cs typeface="Courier New" pitchFamily="49" charset="0"/>
              </a:rPr>
              <a:t>next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  <p:pic>
        <p:nvPicPr>
          <p:cNvPr id="90115" name="Picture 2" descr="C:\Documents and Settings\Administrator\My Documents\Koffman\PPTs\JPEGS\JWCL233_Koffman JPG files\ch02\w0029-n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1676400"/>
            <a:ext cx="2667000" cy="176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77654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sz="4000" b="1" dirty="0"/>
              <a:t>Directly Connecting Nodes: </a:t>
            </a:r>
            <a:br>
              <a:rPr lang="en-US" sz="4000" b="1" dirty="0"/>
            </a:br>
            <a:r>
              <a:rPr lang="en-US" sz="4000" b="1" dirty="0"/>
              <a:t>generic Node</a:t>
            </a:r>
            <a:r>
              <a:rPr lang="en-US" sz="4000" b="1" dirty="0">
                <a:solidFill>
                  <a:srgbClr val="FF0000"/>
                </a:solidFill>
              </a:rPr>
              <a:t>&lt;E&gt;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95234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3124200"/>
            <a:ext cx="8153400" cy="3276600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Node&lt;String&gt; tom = new Node&lt;&gt;("Tom");</a:t>
            </a:r>
          </a:p>
          <a:p>
            <a:pPr marL="0" indent="0"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//Or var tom = new Node&lt;String&gt;("Tom");</a:t>
            </a:r>
          </a:p>
          <a:p>
            <a:pPr marL="0" indent="0"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Node&lt;String&gt; dick = new Node&lt;&gt;("Dick");</a:t>
            </a:r>
          </a:p>
          <a:p>
            <a:pPr marL="0" indent="0"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Node&lt;String&gt; harry = new Node&lt;&gt;("Harry");</a:t>
            </a:r>
          </a:p>
          <a:p>
            <a:pPr marL="0" indent="0"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Node&lt;String&gt;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sam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= new Node&lt;&gt;("Sam");</a:t>
            </a:r>
          </a:p>
          <a:p>
            <a:pPr marL="0" indent="0">
              <a:buFont typeface="Wingdings" pitchFamily="2" charset="2"/>
              <a:buNone/>
            </a:pPr>
            <a:endParaRPr lang="en-US" sz="1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//connect the Node&lt;String&gt; objects</a:t>
            </a:r>
          </a:p>
          <a:p>
            <a:pPr marL="0" indent="0">
              <a:buFont typeface="Wingdings" pitchFamily="2" charset="2"/>
              <a:buNone/>
            </a:pP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tom.next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= dick; </a:t>
            </a:r>
          </a:p>
          <a:p>
            <a:pPr marL="0" indent="0">
              <a:buFont typeface="Wingdings" pitchFamily="2" charset="2"/>
              <a:buNone/>
            </a:pP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dick.next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= harry;</a:t>
            </a:r>
          </a:p>
          <a:p>
            <a:pPr marL="0" indent="0">
              <a:buFont typeface="Wingdings" pitchFamily="2" charset="2"/>
              <a:buNone/>
            </a:pP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harry.next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sam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1676400"/>
            <a:ext cx="89154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cs typeface="Courier New" pitchFamily="49" charset="0"/>
              </a:rPr>
              <a:t>Connect nodes </a:t>
            </a:r>
            <a:r>
              <a:rPr lang="en-US" sz="2000" dirty="0">
                <a:solidFill>
                  <a:srgbClr val="FF0000"/>
                </a:solidFill>
                <a:cs typeface="Courier New" pitchFamily="49" charset="0"/>
              </a:rPr>
              <a:t>DIRECTLY INSIDE </a:t>
            </a:r>
            <a:r>
              <a:rPr lang="en-US" sz="2000" dirty="0">
                <a:cs typeface="Courier New" pitchFamily="49" charset="0"/>
              </a:rPr>
              <a:t>class </a:t>
            </a:r>
            <a:r>
              <a:rPr lang="en-US" sz="2000" dirty="0" err="1">
                <a:cs typeface="Courier New" pitchFamily="49" charset="0"/>
              </a:rPr>
              <a:t>SingleLinkedList</a:t>
            </a:r>
            <a:r>
              <a:rPr lang="en-US" sz="2000" dirty="0">
                <a:solidFill>
                  <a:srgbClr val="FF0000"/>
                </a:solidFill>
                <a:cs typeface="Courier New" pitchFamily="49" charset="0"/>
              </a:rPr>
              <a:t>&lt;E&gt;</a:t>
            </a:r>
            <a:r>
              <a:rPr lang="en-US" sz="2000" dirty="0">
                <a:cs typeface="Courier New" pitchFamily="49" charset="0"/>
              </a:rPr>
              <a:t> because Node</a:t>
            </a:r>
            <a:r>
              <a:rPr lang="en-US" sz="2000" dirty="0">
                <a:solidFill>
                  <a:srgbClr val="FF0000"/>
                </a:solidFill>
                <a:cs typeface="Courier New" pitchFamily="49" charset="0"/>
              </a:rPr>
              <a:t>&lt;E&gt;</a:t>
            </a:r>
            <a:r>
              <a:rPr lang="en-US" sz="2000" dirty="0">
                <a:cs typeface="Courier New" pitchFamily="49" charset="0"/>
              </a:rPr>
              <a:t> class is private.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cs typeface="Courier New" pitchFamily="49" charset="0"/>
              </a:rPr>
              <a:t>See main(…) method inside class </a:t>
            </a:r>
            <a:r>
              <a:rPr lang="en-US" sz="2000" dirty="0" err="1">
                <a:cs typeface="Courier New" pitchFamily="49" charset="0"/>
              </a:rPr>
              <a:t>SingleLinkedList</a:t>
            </a:r>
            <a:r>
              <a:rPr lang="en-US" sz="2000" dirty="0">
                <a:solidFill>
                  <a:srgbClr val="FF0000"/>
                </a:solidFill>
                <a:cs typeface="Courier New" pitchFamily="49" charset="0"/>
              </a:rPr>
              <a:t>&lt;E&gt;</a:t>
            </a:r>
            <a:r>
              <a:rPr lang="en-US" sz="2000" dirty="0">
                <a:cs typeface="Courier New" pitchFamily="49" charset="0"/>
              </a:rPr>
              <a:t>.java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They are similar to the code in file UseNodes.java.</a:t>
            </a:r>
            <a:endParaRPr lang="en-US" sz="2000" dirty="0">
              <a:cs typeface="Courier New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699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534400" cy="990600"/>
          </a:xfrm>
        </p:spPr>
        <p:txBody>
          <a:bodyPr/>
          <a:lstStyle/>
          <a:p>
            <a:r>
              <a:rPr lang="en-US" sz="4000" b="1" dirty="0"/>
              <a:t>Directly Connecting Nodes: </a:t>
            </a:r>
            <a:br>
              <a:rPr lang="en-US" sz="4000" b="1" dirty="0"/>
            </a:br>
            <a:r>
              <a:rPr lang="en-US" sz="4000" b="1" dirty="0"/>
              <a:t>generic Node</a:t>
            </a:r>
            <a:r>
              <a:rPr lang="en-US" sz="4000" b="1" dirty="0">
                <a:solidFill>
                  <a:srgbClr val="FF0000"/>
                </a:solidFill>
              </a:rPr>
              <a:t>&lt;E&gt; </a:t>
            </a:r>
            <a:r>
              <a:rPr lang="en-US" sz="4000" b="1" dirty="0"/>
              <a:t>(cont’d)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7336" y="5715000"/>
            <a:ext cx="6596678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The figure shows the resulting list from the previous slide.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9579" y="1576130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tom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981" y="1937266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2133600" y="2104747"/>
            <a:ext cx="432182" cy="48605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61986" y="1555492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4388" y="1916628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3926007" y="2084109"/>
            <a:ext cx="432182" cy="48605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82055" y="1555492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harry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4457" y="1916628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5846076" y="2084109"/>
            <a:ext cx="432182" cy="48605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68322" y="1479303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530724" y="1840439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7432343" y="2007920"/>
            <a:ext cx="432182" cy="48605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579" y="2564863"/>
            <a:ext cx="6858000" cy="26574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0105" y="2872859"/>
            <a:ext cx="1029479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Node&lt;String&gt;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9911" y="2888494"/>
            <a:ext cx="1029479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Node&lt;String&gt;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9717" y="2888733"/>
            <a:ext cx="1029479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Node&lt;String&gt;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3694" y="2869150"/>
            <a:ext cx="1029479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Node&lt;String&gt;</a:t>
            </a:r>
          </a:p>
        </p:txBody>
      </p:sp>
      <p:sp>
        <p:nvSpPr>
          <p:cNvPr id="21" name="Oval 20"/>
          <p:cNvSpPr/>
          <p:nvPr/>
        </p:nvSpPr>
        <p:spPr>
          <a:xfrm>
            <a:off x="3124200" y="3073160"/>
            <a:ext cx="228600" cy="2286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noFill/>
            </a:endParaRPr>
          </a:p>
        </p:txBody>
      </p:sp>
      <p:sp>
        <p:nvSpPr>
          <p:cNvPr id="25" name="Oval 24"/>
          <p:cNvSpPr/>
          <p:nvPr/>
        </p:nvSpPr>
        <p:spPr>
          <a:xfrm>
            <a:off x="4861381" y="2999085"/>
            <a:ext cx="228600" cy="2286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noFill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594583" y="3053816"/>
            <a:ext cx="228600" cy="2286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655045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534400" cy="990600"/>
          </a:xfrm>
        </p:spPr>
        <p:txBody>
          <a:bodyPr/>
          <a:lstStyle/>
          <a:p>
            <a:r>
              <a:rPr lang="en-US" sz="4000" b="1" dirty="0"/>
              <a:t>Add First: generic Node&lt;E&gt;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7766" y="1704740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tom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8607" y="1752600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2220092" y="1936387"/>
            <a:ext cx="432182" cy="48605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48199" y="1765575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8536" y="1731166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3927851" y="1904044"/>
            <a:ext cx="432182" cy="48605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34935" y="1643200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harry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33999" y="1702826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5747221" y="1870308"/>
            <a:ext cx="432182" cy="48605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21671" y="1650363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631608" y="1729966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7539628" y="1866234"/>
            <a:ext cx="432182" cy="48605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990" y="2365770"/>
            <a:ext cx="6858000" cy="26574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07620" y="2616348"/>
            <a:ext cx="1029479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Node&lt;String&gt;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8633" y="2632490"/>
            <a:ext cx="1029479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Node&lt;String&gt;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6830" y="2632490"/>
            <a:ext cx="1029479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Node&lt;String&gt;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5027" y="2632490"/>
            <a:ext cx="1029479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Node&lt;String&gt;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" y="2365770"/>
            <a:ext cx="1733550" cy="26574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07461" y="2632490"/>
            <a:ext cx="1029479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Node&lt;String&gt;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7347" y="1721094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372082" y="1904043"/>
            <a:ext cx="432182" cy="48605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25980" y="1638337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5169" y="4732495"/>
            <a:ext cx="314189" cy="1846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Bill"</a:t>
            </a:r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357214" y="5228214"/>
            <a:ext cx="8651879" cy="1489554"/>
          </a:xfrm>
          <a:prstGeom prst="rect">
            <a:avLst/>
          </a:prstGeom>
        </p:spPr>
        <p:txBody>
          <a:bodyPr/>
          <a:lstStyle>
            <a:lvl1pPr marL="319088" indent="-319088" algn="l" rtl="0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fontAlgn="base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fontAlgn="base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fontAlgn="base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fontAlgn="base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en-US" sz="1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Node&lt;String&gt; bill = new Node&lt;&gt;("Bill");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bill.next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tom;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cs typeface="Courier New" pitchFamily="49" charset="0"/>
              </a:rPr>
              <a:t>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Node&lt;String&gt; bill = new Node&lt;&gt;("Bill", tom);</a:t>
            </a:r>
          </a:p>
        </p:txBody>
      </p:sp>
      <p:sp>
        <p:nvSpPr>
          <p:cNvPr id="30" name="Oval 29"/>
          <p:cNvSpPr/>
          <p:nvPr/>
        </p:nvSpPr>
        <p:spPr>
          <a:xfrm>
            <a:off x="1645101" y="2925639"/>
            <a:ext cx="228600" cy="2286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048061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534400" cy="990600"/>
          </a:xfrm>
        </p:spPr>
        <p:txBody>
          <a:bodyPr/>
          <a:lstStyle/>
          <a:p>
            <a:r>
              <a:rPr lang="en-US" sz="4000" b="1" dirty="0"/>
              <a:t>Add in-between: generic Node&lt;E&gt;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4254" y="1590403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tom</a:t>
            </a:r>
          </a:p>
        </p:txBody>
      </p:sp>
      <p:sp>
        <p:nvSpPr>
          <p:cNvPr id="8" name="Rectangle 7"/>
          <p:cNvSpPr/>
          <p:nvPr/>
        </p:nvSpPr>
        <p:spPr>
          <a:xfrm>
            <a:off x="815095" y="1638263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786580" y="1822050"/>
            <a:ext cx="432182" cy="48605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114687" y="1651238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05024" y="1616829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2494339" y="1789707"/>
            <a:ext cx="432182" cy="48605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01423" y="1528863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harry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0487" y="1588489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4313709" y="1755971"/>
            <a:ext cx="432182" cy="48605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518283" y="1582460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893621" y="1629460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7863701" y="1770019"/>
            <a:ext cx="432182" cy="48605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78" y="2251433"/>
            <a:ext cx="6858000" cy="26574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4108" y="2502011"/>
            <a:ext cx="1029479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Node&lt;String&gt;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15121" y="2518153"/>
            <a:ext cx="1029479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Node&lt;String&gt;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3318" y="2518153"/>
            <a:ext cx="1029479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Node&lt;String&gt;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1515" y="2518153"/>
            <a:ext cx="1029479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Node&lt;String&gt;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19200" y="2251433"/>
            <a:ext cx="1733550" cy="26574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-1026051" y="2518153"/>
            <a:ext cx="1029479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Node&lt;String&gt;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-1046165" y="1606757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-1061430" y="1789706"/>
            <a:ext cx="432182" cy="48605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-407532" y="1524000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-325048" y="4648200"/>
            <a:ext cx="314189" cy="1846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en-US" sz="1200" dirty="0"/>
              <a:t>Bill"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9360" y="2260958"/>
            <a:ext cx="1609725" cy="264795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011" y="2277017"/>
            <a:ext cx="1733550" cy="2657475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655731" y="4644701"/>
            <a:ext cx="355867" cy="1846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Sue"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3263" y="1610844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55971" y="1684214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6081290" y="1839868"/>
            <a:ext cx="432182" cy="48605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965242" y="2547512"/>
            <a:ext cx="1029479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Node&lt;String&gt;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38130" y="2547512"/>
            <a:ext cx="1029479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Node&lt;String&gt;</a:t>
            </a:r>
          </a:p>
        </p:txBody>
      </p:sp>
      <p:sp>
        <p:nvSpPr>
          <p:cNvPr id="37" name="Content Placeholder 2"/>
          <p:cNvSpPr txBox="1">
            <a:spLocks/>
          </p:cNvSpPr>
          <p:nvPr/>
        </p:nvSpPr>
        <p:spPr>
          <a:xfrm>
            <a:off x="573257" y="5581958"/>
            <a:ext cx="8229600" cy="718366"/>
          </a:xfrm>
          <a:prstGeom prst="rect">
            <a:avLst/>
          </a:prstGeom>
        </p:spPr>
        <p:txBody>
          <a:bodyPr/>
          <a:lstStyle>
            <a:lvl1pPr marL="319088" indent="-319088" algn="l" rtl="0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fontAlgn="base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fontAlgn="base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fontAlgn="base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fontAlgn="base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en-US" sz="1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Node&lt;String&gt; sue = new Node&lt;&gt;("Sue",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sam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harry.next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sue;</a:t>
            </a:r>
          </a:p>
        </p:txBody>
      </p:sp>
      <p:sp>
        <p:nvSpPr>
          <p:cNvPr id="38" name="Oval 37"/>
          <p:cNvSpPr/>
          <p:nvPr/>
        </p:nvSpPr>
        <p:spPr>
          <a:xfrm>
            <a:off x="5433328" y="2732178"/>
            <a:ext cx="228600" cy="2286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noFill/>
            </a:endParaRPr>
          </a:p>
        </p:txBody>
      </p:sp>
      <p:sp>
        <p:nvSpPr>
          <p:cNvPr id="39" name="Oval 38"/>
          <p:cNvSpPr/>
          <p:nvPr/>
        </p:nvSpPr>
        <p:spPr>
          <a:xfrm>
            <a:off x="7166561" y="2778747"/>
            <a:ext cx="228600" cy="2286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152881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534400" cy="990600"/>
          </a:xfrm>
        </p:spPr>
        <p:txBody>
          <a:bodyPr/>
          <a:lstStyle/>
          <a:p>
            <a:r>
              <a:rPr lang="en-US" sz="4000" b="1" dirty="0"/>
              <a:t>Remove Dick: generic Node&lt;E&gt;</a:t>
            </a:r>
          </a:p>
        </p:txBody>
      </p:sp>
      <p:sp>
        <p:nvSpPr>
          <p:cNvPr id="37" name="Content Placeholder 2"/>
          <p:cNvSpPr txBox="1">
            <a:spLocks/>
          </p:cNvSpPr>
          <p:nvPr/>
        </p:nvSpPr>
        <p:spPr>
          <a:xfrm>
            <a:off x="573257" y="5581958"/>
            <a:ext cx="8229600" cy="718366"/>
          </a:xfrm>
          <a:prstGeom prst="rect">
            <a:avLst/>
          </a:prstGeom>
        </p:spPr>
        <p:txBody>
          <a:bodyPr/>
          <a:lstStyle>
            <a:lvl1pPr marL="319088" indent="-319088" algn="l" rtl="0" fontAlgn="base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fontAlgn="base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fontAlgn="base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fontAlgn="base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fontAlgn="base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en-US" sz="1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tom.next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dick.next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tom.next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tom.next.next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" y="1714500"/>
            <a:ext cx="8677275" cy="3429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553200" y="1828800"/>
            <a:ext cx="6096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39514" y="4876800"/>
            <a:ext cx="427372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r>
              <a:rPr lang="en-US" sz="1200" dirty="0"/>
              <a:t>Sue"</a:t>
            </a:r>
          </a:p>
        </p:txBody>
      </p:sp>
      <p:sp>
        <p:nvSpPr>
          <p:cNvPr id="11" name="Oval 10"/>
          <p:cNvSpPr/>
          <p:nvPr/>
        </p:nvSpPr>
        <p:spPr>
          <a:xfrm>
            <a:off x="3352800" y="2971800"/>
            <a:ext cx="228600" cy="2286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007795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sz="4000" b="1" dirty="0"/>
              <a:t>Indirectly Connecting Nodes: </a:t>
            </a:r>
            <a:br>
              <a:rPr lang="en-US" sz="4000" b="1" dirty="0"/>
            </a:br>
            <a:r>
              <a:rPr lang="en-US" sz="4000" b="1" dirty="0"/>
              <a:t>generic Node</a:t>
            </a:r>
            <a:r>
              <a:rPr lang="en-US" sz="4000" b="1" dirty="0">
                <a:solidFill>
                  <a:srgbClr val="FF0000"/>
                </a:solidFill>
              </a:rPr>
              <a:t>&lt;E&gt;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676400"/>
            <a:ext cx="8686800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cs typeface="Courier New" pitchFamily="49" charset="0"/>
              </a:rPr>
              <a:t>Connect nodes </a:t>
            </a:r>
            <a:r>
              <a:rPr lang="en-US" sz="2400" dirty="0">
                <a:solidFill>
                  <a:srgbClr val="FF0000"/>
                </a:solidFill>
                <a:cs typeface="Courier New" pitchFamily="49" charset="0"/>
              </a:rPr>
              <a:t>INDIRECTLY OUTSIDE </a:t>
            </a:r>
            <a:r>
              <a:rPr lang="en-US" sz="2400" dirty="0">
                <a:cs typeface="Courier New" pitchFamily="49" charset="0"/>
              </a:rPr>
              <a:t>class </a:t>
            </a:r>
            <a:r>
              <a:rPr lang="en-US" sz="2400" dirty="0" err="1">
                <a:cs typeface="Courier New" pitchFamily="49" charset="0"/>
              </a:rPr>
              <a:t>SingleLinkedList</a:t>
            </a:r>
            <a:r>
              <a:rPr lang="en-US" sz="2400" dirty="0">
                <a:cs typeface="Courier New" pitchFamily="49" charset="0"/>
              </a:rPr>
              <a:t>&lt;E&gt;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Program: ConnectNodesGenericIndirect.java</a:t>
            </a:r>
          </a:p>
          <a:p>
            <a:pPr lvl="1"/>
            <a:endParaRPr lang="en-US" sz="2400" dirty="0"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SingleLinkedList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&lt;String&gt; names </a:t>
            </a:r>
          </a:p>
          <a:p>
            <a:pPr marL="0" indent="0"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    = new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SingleLinkedList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&lt;&gt;();</a:t>
            </a:r>
          </a:p>
          <a:p>
            <a:pPr marL="0" indent="0">
              <a:buFont typeface="Wingdings" pitchFamily="2" charset="2"/>
              <a:buNone/>
            </a:pPr>
            <a:endParaRPr lang="en-US" sz="1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//connect nodes indirectly </a:t>
            </a:r>
          </a:p>
          <a:p>
            <a:pPr marL="0" indent="0">
              <a:buNone/>
            </a:pP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names.add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("Tom");</a:t>
            </a:r>
          </a:p>
          <a:p>
            <a:pPr marL="0" indent="0">
              <a:buNone/>
            </a:pP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names.add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("Dick");</a:t>
            </a:r>
          </a:p>
          <a:p>
            <a:pPr marL="0" indent="0">
              <a:buNone/>
            </a:pP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names.add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("Harry");</a:t>
            </a:r>
          </a:p>
          <a:p>
            <a:pPr marL="0" indent="0">
              <a:buNone/>
            </a:pP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names.add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("Sam");</a:t>
            </a:r>
          </a:p>
        </p:txBody>
      </p:sp>
    </p:spTree>
    <p:extLst>
      <p:ext uri="{BB962C8B-B14F-4D97-AF65-F5344CB8AC3E}">
        <p14:creationId xmlns:p14="http://schemas.microsoft.com/office/powerpoint/2010/main" val="2025588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b="1" dirty="0"/>
              <a:t>A Generic Single-Linked List Class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600200"/>
            <a:ext cx="8461375" cy="4495800"/>
          </a:xfrm>
        </p:spPr>
        <p:txBody>
          <a:bodyPr>
            <a:normAutofit fontScale="92500"/>
          </a:bodyPr>
          <a:lstStyle/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dirty="0"/>
              <a:t>Generally, we do not have individual references to each node.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dirty="0"/>
              <a:t>A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SingleLinkedList</a:t>
            </a:r>
            <a:r>
              <a:rPr lang="en-US" dirty="0"/>
              <a:t> object has a data field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head</a:t>
            </a:r>
            <a:r>
              <a:rPr lang="en-US" dirty="0"/>
              <a:t>, the </a:t>
            </a:r>
            <a:r>
              <a:rPr lang="en-US" i="1" dirty="0"/>
              <a:t>list head reference</a:t>
            </a:r>
            <a:r>
              <a:rPr lang="en-US" dirty="0"/>
              <a:t>,  which references the first list node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endParaRPr lang="en-US" dirty="0"/>
          </a:p>
          <a:p>
            <a:pPr marL="400050" lvl="1" indent="0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public class SingleLinkedList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&lt;E&gt;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400050" lvl="1" indent="0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private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Node&lt;E&gt;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head = null;</a:t>
            </a:r>
          </a:p>
          <a:p>
            <a:pPr marL="400050" lvl="1" indent="0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private int size = 0;</a:t>
            </a:r>
          </a:p>
          <a:p>
            <a:pPr marL="400050" lvl="1" indent="0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...</a:t>
            </a:r>
          </a:p>
          <a:p>
            <a:pPr marL="400050" lvl="1" indent="0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25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b="1" dirty="0"/>
              <a:t>Example of </a:t>
            </a:r>
            <a:r>
              <a:rPr lang="en-US" b="1" dirty="0" err="1"/>
              <a:t>SingleLinkedList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&lt;E&gt;</a:t>
            </a:r>
            <a:r>
              <a:rPr lang="en-US" b="1" dirty="0"/>
              <a:t>: </a:t>
            </a:r>
            <a:r>
              <a:rPr lang="en-US" b="1" dirty="0" err="1"/>
              <a:t>SingleLinkedList</a:t>
            </a:r>
            <a:r>
              <a:rPr lang="en-US" b="1" dirty="0">
                <a:solidFill>
                  <a:srgbClr val="FF0000"/>
                </a:solidFill>
              </a:rPr>
              <a:t>&lt;String&gt; </a:t>
            </a:r>
            <a:r>
              <a:rPr lang="en-US" dirty="0">
                <a:latin typeface="Courier New" pitchFamily="49" charset="0"/>
              </a:rPr>
              <a:t>names</a:t>
            </a:r>
            <a:endParaRPr lang="en-US" b="1" dirty="0">
              <a:latin typeface="Courier New" pitchFamily="49" charset="0"/>
            </a:endParaRPr>
          </a:p>
        </p:txBody>
      </p:sp>
      <p:sp>
        <p:nvSpPr>
          <p:cNvPr id="97297" name="Rectangle 5"/>
          <p:cNvSpPr>
            <a:spLocks noChangeArrowheads="1"/>
          </p:cNvSpPr>
          <p:nvPr/>
        </p:nvSpPr>
        <p:spPr bwMode="auto">
          <a:xfrm>
            <a:off x="1676400" y="2209801"/>
            <a:ext cx="2081609" cy="762000"/>
          </a:xfrm>
          <a:prstGeom prst="rect">
            <a:avLst/>
          </a:prstGeom>
          <a:solidFill>
            <a:srgbClr val="7030A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600" dirty="0">
                <a:solidFill>
                  <a:srgbClr val="92D050"/>
                </a:solidFill>
                <a:latin typeface="Courier New" pitchFamily="49" charset="0"/>
              </a:rPr>
              <a:t>head =</a:t>
            </a:r>
          </a:p>
          <a:p>
            <a:r>
              <a:rPr lang="en-US" sz="1600" dirty="0">
                <a:solidFill>
                  <a:srgbClr val="92D050"/>
                </a:solidFill>
                <a:latin typeface="Courier New" pitchFamily="49" charset="0"/>
              </a:rPr>
              <a:t>size = 2    </a:t>
            </a:r>
          </a:p>
        </p:txBody>
      </p:sp>
      <p:sp>
        <p:nvSpPr>
          <p:cNvPr id="97298" name="Rectangle 6"/>
          <p:cNvSpPr>
            <a:spLocks noChangeArrowheads="1"/>
          </p:cNvSpPr>
          <p:nvPr/>
        </p:nvSpPr>
        <p:spPr bwMode="auto">
          <a:xfrm>
            <a:off x="2767409" y="2386694"/>
            <a:ext cx="762000" cy="141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7296" name="Rectangle 10"/>
          <p:cNvSpPr>
            <a:spLocks noChangeArrowheads="1"/>
          </p:cNvSpPr>
          <p:nvPr/>
        </p:nvSpPr>
        <p:spPr bwMode="auto">
          <a:xfrm>
            <a:off x="1676400" y="1676400"/>
            <a:ext cx="2081609" cy="561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 err="1">
                <a:solidFill>
                  <a:schemeClr val="accent2"/>
                </a:solidFill>
                <a:latin typeface="Courier New" pitchFamily="49" charset="0"/>
              </a:rPr>
              <a:t>SingleLinkedLList</a:t>
            </a:r>
            <a:endParaRPr lang="en-US" sz="1600" dirty="0">
              <a:solidFill>
                <a:schemeClr val="accent2"/>
              </a:solidFill>
              <a:latin typeface="Courier New" pitchFamily="49" charset="0"/>
            </a:endParaRPr>
          </a:p>
          <a:p>
            <a:pPr algn="ctr"/>
            <a:r>
              <a:rPr lang="en-US" sz="1600" dirty="0">
                <a:solidFill>
                  <a:schemeClr val="accent2"/>
                </a:solidFill>
                <a:latin typeface="Courier New" pitchFamily="49" charset="0"/>
              </a:rPr>
              <a:t>&lt;String&gt;</a:t>
            </a:r>
          </a:p>
        </p:txBody>
      </p:sp>
      <p:grpSp>
        <p:nvGrpSpPr>
          <p:cNvPr id="97283" name="Group 24"/>
          <p:cNvGrpSpPr>
            <a:grpSpLocks/>
          </p:cNvGrpSpPr>
          <p:nvPr/>
        </p:nvGrpSpPr>
        <p:grpSpPr bwMode="auto">
          <a:xfrm>
            <a:off x="4367609" y="1676401"/>
            <a:ext cx="1828800" cy="1295400"/>
            <a:chOff x="2064" y="1488"/>
            <a:chExt cx="1152" cy="816"/>
          </a:xfrm>
        </p:grpSpPr>
        <p:grpSp>
          <p:nvGrpSpPr>
            <p:cNvPr id="97291" name="Group 23"/>
            <p:cNvGrpSpPr>
              <a:grpSpLocks/>
            </p:cNvGrpSpPr>
            <p:nvPr/>
          </p:nvGrpSpPr>
          <p:grpSpPr bwMode="auto">
            <a:xfrm>
              <a:off x="2064" y="1824"/>
              <a:ext cx="1152" cy="480"/>
              <a:chOff x="2064" y="1824"/>
              <a:chExt cx="1152" cy="480"/>
            </a:xfrm>
          </p:grpSpPr>
          <p:sp>
            <p:nvSpPr>
              <p:cNvPr id="97293" name="Rectangle 20"/>
              <p:cNvSpPr>
                <a:spLocks noChangeArrowheads="1"/>
              </p:cNvSpPr>
              <p:nvPr/>
            </p:nvSpPr>
            <p:spPr bwMode="auto">
              <a:xfrm>
                <a:off x="2064" y="1824"/>
                <a:ext cx="1152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next =</a:t>
                </a:r>
              </a:p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data =</a:t>
                </a:r>
              </a:p>
            </p:txBody>
          </p:sp>
          <p:sp>
            <p:nvSpPr>
              <p:cNvPr id="97294" name="Rectangle 21"/>
              <p:cNvSpPr>
                <a:spLocks noChangeArrowheads="1"/>
              </p:cNvSpPr>
              <p:nvPr/>
            </p:nvSpPr>
            <p:spPr bwMode="auto">
              <a:xfrm>
                <a:off x="2688" y="1911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7292" name="Rectangle 22"/>
            <p:cNvSpPr>
              <a:spLocks noChangeArrowheads="1"/>
            </p:cNvSpPr>
            <p:nvPr/>
          </p:nvSpPr>
          <p:spPr bwMode="auto">
            <a:xfrm>
              <a:off x="2064" y="1488"/>
              <a:ext cx="115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>
                  <a:solidFill>
                    <a:schemeClr val="accent2"/>
                  </a:solidFill>
                  <a:latin typeface="Courier New" pitchFamily="49" charset="0"/>
                </a:rPr>
                <a:t>Node&lt;String&gt;</a:t>
              </a:r>
            </a:p>
          </p:txBody>
        </p:sp>
      </p:grpSp>
      <p:grpSp>
        <p:nvGrpSpPr>
          <p:cNvPr id="97284" name="Group 25"/>
          <p:cNvGrpSpPr>
            <a:grpSpLocks/>
          </p:cNvGrpSpPr>
          <p:nvPr/>
        </p:nvGrpSpPr>
        <p:grpSpPr bwMode="auto">
          <a:xfrm>
            <a:off x="6806009" y="1676401"/>
            <a:ext cx="1828800" cy="1295400"/>
            <a:chOff x="2064" y="1488"/>
            <a:chExt cx="1152" cy="816"/>
          </a:xfrm>
        </p:grpSpPr>
        <p:grpSp>
          <p:nvGrpSpPr>
            <p:cNvPr id="97287" name="Group 26"/>
            <p:cNvGrpSpPr>
              <a:grpSpLocks/>
            </p:cNvGrpSpPr>
            <p:nvPr/>
          </p:nvGrpSpPr>
          <p:grpSpPr bwMode="auto">
            <a:xfrm>
              <a:off x="2064" y="1824"/>
              <a:ext cx="1152" cy="480"/>
              <a:chOff x="2064" y="1824"/>
              <a:chExt cx="1152" cy="480"/>
            </a:xfrm>
          </p:grpSpPr>
          <p:sp>
            <p:nvSpPr>
              <p:cNvPr id="97289" name="Rectangle 27"/>
              <p:cNvSpPr>
                <a:spLocks noChangeArrowheads="1"/>
              </p:cNvSpPr>
              <p:nvPr/>
            </p:nvSpPr>
            <p:spPr bwMode="auto">
              <a:xfrm>
                <a:off x="2064" y="1824"/>
                <a:ext cx="1152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next =</a:t>
                </a:r>
              </a:p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data =</a:t>
                </a:r>
              </a:p>
            </p:txBody>
          </p:sp>
          <p:sp>
            <p:nvSpPr>
              <p:cNvPr id="97290" name="Rectangle 28"/>
              <p:cNvSpPr>
                <a:spLocks noChangeArrowheads="1"/>
              </p:cNvSpPr>
              <p:nvPr/>
            </p:nvSpPr>
            <p:spPr bwMode="auto">
              <a:xfrm>
                <a:off x="2652" y="1920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/>
                  <a:t>null</a:t>
                </a:r>
              </a:p>
            </p:txBody>
          </p:sp>
        </p:grpSp>
        <p:sp>
          <p:nvSpPr>
            <p:cNvPr id="97288" name="Rectangle 29"/>
            <p:cNvSpPr>
              <a:spLocks noChangeArrowheads="1"/>
            </p:cNvSpPr>
            <p:nvPr/>
          </p:nvSpPr>
          <p:spPr bwMode="auto">
            <a:xfrm>
              <a:off x="2064" y="1488"/>
              <a:ext cx="115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>
                  <a:solidFill>
                    <a:schemeClr val="accent2"/>
                  </a:solidFill>
                  <a:latin typeface="Courier New" pitchFamily="49" charset="0"/>
                </a:rPr>
                <a:t>Node&lt;String&gt;</a:t>
              </a:r>
            </a:p>
          </p:txBody>
        </p:sp>
      </p:grpSp>
      <p:cxnSp>
        <p:nvCxnSpPr>
          <p:cNvPr id="97285" name="AutoShape 35"/>
          <p:cNvCxnSpPr>
            <a:cxnSpLocks noChangeShapeType="1"/>
          </p:cNvCxnSpPr>
          <p:nvPr/>
        </p:nvCxnSpPr>
        <p:spPr bwMode="auto">
          <a:xfrm rot="5400000" flipH="1" flipV="1">
            <a:off x="3453209" y="1574801"/>
            <a:ext cx="609600" cy="1219200"/>
          </a:xfrm>
          <a:prstGeom prst="curvedConnector4">
            <a:avLst>
              <a:gd name="adj1" fmla="val 1560"/>
              <a:gd name="adj2" fmla="val 6562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97286" name="AutoShape 36"/>
          <p:cNvCxnSpPr>
            <a:cxnSpLocks noChangeShapeType="1"/>
          </p:cNvCxnSpPr>
          <p:nvPr/>
        </p:nvCxnSpPr>
        <p:spPr bwMode="auto">
          <a:xfrm rot="5400000" flipH="1" flipV="1">
            <a:off x="6018609" y="1600201"/>
            <a:ext cx="609600" cy="1066800"/>
          </a:xfrm>
          <a:prstGeom prst="curvedConnector4">
            <a:avLst>
              <a:gd name="adj1" fmla="val 1560"/>
              <a:gd name="adj2" fmla="val 6785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2" name="TextBox 1"/>
          <p:cNvSpPr txBox="1"/>
          <p:nvPr/>
        </p:nvSpPr>
        <p:spPr>
          <a:xfrm>
            <a:off x="328965" y="1814553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63525" y="2247901"/>
            <a:ext cx="838200" cy="4572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758825" y="2438401"/>
            <a:ext cx="917575" cy="3810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04653" y="4572000"/>
            <a:ext cx="8361522" cy="175432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names is a reference variable of type </a:t>
            </a:r>
            <a:r>
              <a:rPr lang="en-US" dirty="0" err="1"/>
              <a:t>SingleLinkedList</a:t>
            </a:r>
            <a:r>
              <a:rPr lang="en-US" dirty="0"/>
              <a:t>&lt;String&gt;. Its declaration:</a:t>
            </a:r>
          </a:p>
          <a:p>
            <a:pPr marL="682625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SingleLinkedList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&lt;String&gt;  names;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figure above is the result of the following operations:</a:t>
            </a:r>
          </a:p>
          <a:p>
            <a:pPr marL="682625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names.add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("Tom");</a:t>
            </a:r>
          </a:p>
          <a:p>
            <a:pPr marL="682625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names.add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("Dick");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4431441" y="3232981"/>
            <a:ext cx="1669718" cy="1087875"/>
            <a:chOff x="5257800" y="4442567"/>
            <a:chExt cx="2104460" cy="1087875"/>
          </a:xfrm>
        </p:grpSpPr>
        <p:grpSp>
          <p:nvGrpSpPr>
            <p:cNvPr id="23" name="Group 22"/>
            <p:cNvGrpSpPr/>
            <p:nvPr/>
          </p:nvGrpSpPr>
          <p:grpSpPr>
            <a:xfrm>
              <a:off x="5257800" y="4442567"/>
              <a:ext cx="2104460" cy="1087875"/>
              <a:chOff x="5257798" y="4442567"/>
              <a:chExt cx="1870631" cy="1087875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5257798" y="4442567"/>
                <a:ext cx="1870630" cy="4431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Node</a:t>
                </a: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5257799" y="4876800"/>
                <a:ext cx="1870630" cy="65364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value = </a:t>
                </a:r>
                <a:r>
                  <a:rPr lang="en-US" sz="1400" dirty="0">
                    <a:solidFill>
                      <a:schemeClr val="tx1"/>
                    </a:solidFill>
                    <a:latin typeface="Courier New" pitchFamily="49" charset="0"/>
                  </a:rPr>
                  <a:t>"Tom"</a:t>
                </a:r>
                <a:endParaRPr lang="en-US" sz="14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4" name="TextBox 23"/>
            <p:cNvSpPr txBox="1"/>
            <p:nvPr/>
          </p:nvSpPr>
          <p:spPr>
            <a:xfrm>
              <a:off x="5316012" y="4475497"/>
              <a:ext cx="172145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String</a:t>
              </a:r>
              <a:endParaRPr lang="en-US" sz="1400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6965091" y="3229895"/>
            <a:ext cx="1669718" cy="1087875"/>
            <a:chOff x="5257800" y="4442567"/>
            <a:chExt cx="2104460" cy="1087875"/>
          </a:xfrm>
        </p:grpSpPr>
        <p:grpSp>
          <p:nvGrpSpPr>
            <p:cNvPr id="28" name="Group 27"/>
            <p:cNvGrpSpPr/>
            <p:nvPr/>
          </p:nvGrpSpPr>
          <p:grpSpPr>
            <a:xfrm>
              <a:off x="5257800" y="4442567"/>
              <a:ext cx="2104460" cy="1087875"/>
              <a:chOff x="5257798" y="4442567"/>
              <a:chExt cx="1870631" cy="1087875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5257798" y="4442567"/>
                <a:ext cx="1870630" cy="4431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Node</a:t>
                </a:r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5257799" y="4876800"/>
                <a:ext cx="1870630" cy="65364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value =  “Dick"</a:t>
                </a:r>
              </a:p>
            </p:txBody>
          </p:sp>
        </p:grpSp>
        <p:sp>
          <p:nvSpPr>
            <p:cNvPr id="29" name="TextBox 28"/>
            <p:cNvSpPr txBox="1"/>
            <p:nvPr/>
          </p:nvSpPr>
          <p:spPr>
            <a:xfrm>
              <a:off x="5316012" y="4475497"/>
              <a:ext cx="172145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String</a:t>
              </a:r>
              <a:endParaRPr lang="en-US" sz="1400" dirty="0">
                <a:solidFill>
                  <a:srgbClr val="00B0F0"/>
                </a:solidFill>
              </a:endParaRPr>
            </a:p>
          </p:txBody>
        </p:sp>
      </p:grpSp>
      <p:sp>
        <p:nvSpPr>
          <p:cNvPr id="32" name="Rectangle 21"/>
          <p:cNvSpPr>
            <a:spLocks noChangeArrowheads="1"/>
          </p:cNvSpPr>
          <p:nvPr/>
        </p:nvSpPr>
        <p:spPr bwMode="auto">
          <a:xfrm>
            <a:off x="5358209" y="2616201"/>
            <a:ext cx="762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Rectangle 21"/>
          <p:cNvSpPr>
            <a:spLocks noChangeArrowheads="1"/>
          </p:cNvSpPr>
          <p:nvPr/>
        </p:nvSpPr>
        <p:spPr bwMode="auto">
          <a:xfrm>
            <a:off x="7739459" y="2651938"/>
            <a:ext cx="762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5462177" y="2724914"/>
            <a:ext cx="277032" cy="477920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7818999" y="2732951"/>
            <a:ext cx="277032" cy="477920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067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/>
              <a:t>Implementing</a:t>
            </a:r>
            <a:br>
              <a:rPr lang="en-US" b="1" dirty="0"/>
            </a:br>
            <a:r>
              <a:rPr lang="en-US" dirty="0"/>
              <a:t> 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3200" dirty="0" err="1">
                <a:latin typeface="Courier New" pitchFamily="49" charset="0"/>
              </a:rPr>
              <a:t>addFirst</a:t>
            </a:r>
            <a:r>
              <a:rPr lang="en-US" sz="3200" dirty="0">
                <a:latin typeface="Courier New" pitchFamily="49" charset="0"/>
              </a:rPr>
              <a:t>(E item)</a:t>
            </a:r>
          </a:p>
        </p:txBody>
      </p:sp>
      <p:grpSp>
        <p:nvGrpSpPr>
          <p:cNvPr id="98327" name="Group 4"/>
          <p:cNvGrpSpPr>
            <a:grpSpLocks/>
          </p:cNvGrpSpPr>
          <p:nvPr/>
        </p:nvGrpSpPr>
        <p:grpSpPr bwMode="auto">
          <a:xfrm>
            <a:off x="875711" y="3179981"/>
            <a:ext cx="1828800" cy="647700"/>
            <a:chOff x="432" y="1824"/>
            <a:chExt cx="1152" cy="336"/>
          </a:xfrm>
          <a:solidFill>
            <a:srgbClr val="7030A0"/>
          </a:solidFill>
        </p:grpSpPr>
        <p:sp>
          <p:nvSpPr>
            <p:cNvPr id="98329" name="Rectangle 5"/>
            <p:cNvSpPr>
              <a:spLocks noChangeArrowheads="1"/>
            </p:cNvSpPr>
            <p:nvPr/>
          </p:nvSpPr>
          <p:spPr bwMode="auto">
            <a:xfrm>
              <a:off x="432" y="1824"/>
              <a:ext cx="1152" cy="33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>
                  <a:solidFill>
                    <a:srgbClr val="92D050"/>
                  </a:solidFill>
                  <a:latin typeface="Courier New" pitchFamily="49" charset="0"/>
                </a:rPr>
                <a:t>head =       </a:t>
              </a:r>
            </a:p>
            <a:p>
              <a:r>
                <a:rPr lang="en-US" sz="1600" dirty="0">
                  <a:solidFill>
                    <a:srgbClr val="92D050"/>
                  </a:solidFill>
                  <a:latin typeface="Courier New" pitchFamily="49" charset="0"/>
                </a:rPr>
                <a:t>size = 2</a:t>
              </a:r>
            </a:p>
          </p:txBody>
        </p:sp>
        <p:sp>
          <p:nvSpPr>
            <p:cNvPr id="98330" name="Rectangle 6"/>
            <p:cNvSpPr>
              <a:spLocks noChangeArrowheads="1"/>
            </p:cNvSpPr>
            <p:nvPr/>
          </p:nvSpPr>
          <p:spPr bwMode="auto">
            <a:xfrm>
              <a:off x="1038" y="1864"/>
              <a:ext cx="480" cy="8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8328" name="Rectangle 7"/>
          <p:cNvSpPr>
            <a:spLocks noChangeArrowheads="1"/>
          </p:cNvSpPr>
          <p:nvPr/>
        </p:nvSpPr>
        <p:spPr bwMode="auto">
          <a:xfrm>
            <a:off x="875711" y="2532281"/>
            <a:ext cx="1828800" cy="647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u="sng" dirty="0" err="1">
                <a:solidFill>
                  <a:schemeClr val="accent2"/>
                </a:solidFill>
                <a:latin typeface="Courier New" pitchFamily="49" charset="0"/>
              </a:rPr>
              <a:t>SingleLinkedList</a:t>
            </a:r>
            <a:endParaRPr lang="en-US" sz="1600" u="sng" dirty="0">
              <a:solidFill>
                <a:schemeClr val="accent2"/>
              </a:solidFill>
              <a:latin typeface="Courier New" pitchFamily="49" charset="0"/>
            </a:endParaRPr>
          </a:p>
          <a:p>
            <a:pPr algn="ctr"/>
            <a:r>
              <a:rPr lang="en-US" sz="1600" u="sng" dirty="0">
                <a:solidFill>
                  <a:schemeClr val="accent2"/>
                </a:solidFill>
                <a:latin typeface="Courier New" pitchFamily="49" charset="0"/>
              </a:rPr>
              <a:t>&lt;String&gt;</a:t>
            </a:r>
          </a:p>
        </p:txBody>
      </p:sp>
      <p:grpSp>
        <p:nvGrpSpPr>
          <p:cNvPr id="98307" name="Group 8"/>
          <p:cNvGrpSpPr>
            <a:grpSpLocks/>
          </p:cNvGrpSpPr>
          <p:nvPr/>
        </p:nvGrpSpPr>
        <p:grpSpPr bwMode="auto">
          <a:xfrm>
            <a:off x="3470434" y="2532281"/>
            <a:ext cx="1828800" cy="1295400"/>
            <a:chOff x="2064" y="1488"/>
            <a:chExt cx="1152" cy="816"/>
          </a:xfrm>
        </p:grpSpPr>
        <p:grpSp>
          <p:nvGrpSpPr>
            <p:cNvPr id="98323" name="Group 9"/>
            <p:cNvGrpSpPr>
              <a:grpSpLocks/>
            </p:cNvGrpSpPr>
            <p:nvPr/>
          </p:nvGrpSpPr>
          <p:grpSpPr bwMode="auto">
            <a:xfrm>
              <a:off x="2064" y="1824"/>
              <a:ext cx="1152" cy="480"/>
              <a:chOff x="2064" y="1824"/>
              <a:chExt cx="1152" cy="480"/>
            </a:xfrm>
          </p:grpSpPr>
          <p:sp>
            <p:nvSpPr>
              <p:cNvPr id="98325" name="Rectangle 10"/>
              <p:cNvSpPr>
                <a:spLocks noChangeArrowheads="1"/>
              </p:cNvSpPr>
              <p:nvPr/>
            </p:nvSpPr>
            <p:spPr bwMode="auto">
              <a:xfrm>
                <a:off x="2064" y="1824"/>
                <a:ext cx="1152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next =</a:t>
                </a:r>
              </a:p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data = "Tom"</a:t>
                </a:r>
              </a:p>
            </p:txBody>
          </p:sp>
          <p:sp>
            <p:nvSpPr>
              <p:cNvPr id="98326" name="Rectangle 11"/>
              <p:cNvSpPr>
                <a:spLocks noChangeArrowheads="1"/>
              </p:cNvSpPr>
              <p:nvPr/>
            </p:nvSpPr>
            <p:spPr bwMode="auto">
              <a:xfrm>
                <a:off x="2688" y="1944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8324" name="Rectangle 12"/>
            <p:cNvSpPr>
              <a:spLocks noChangeArrowheads="1"/>
            </p:cNvSpPr>
            <p:nvPr/>
          </p:nvSpPr>
          <p:spPr bwMode="auto">
            <a:xfrm>
              <a:off x="2064" y="1488"/>
              <a:ext cx="115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u="sng">
                  <a:solidFill>
                    <a:schemeClr val="accent2"/>
                  </a:solidFill>
                  <a:latin typeface="Courier New" pitchFamily="49" charset="0"/>
                </a:rPr>
                <a:t>Node&lt;String&gt;</a:t>
              </a:r>
            </a:p>
          </p:txBody>
        </p:sp>
      </p:grpSp>
      <p:grpSp>
        <p:nvGrpSpPr>
          <p:cNvPr id="98308" name="Group 13"/>
          <p:cNvGrpSpPr>
            <a:grpSpLocks/>
          </p:cNvGrpSpPr>
          <p:nvPr/>
        </p:nvGrpSpPr>
        <p:grpSpPr bwMode="auto">
          <a:xfrm>
            <a:off x="5908834" y="2532281"/>
            <a:ext cx="1828800" cy="1295400"/>
            <a:chOff x="2064" y="1488"/>
            <a:chExt cx="1152" cy="816"/>
          </a:xfrm>
        </p:grpSpPr>
        <p:grpSp>
          <p:nvGrpSpPr>
            <p:cNvPr id="98319" name="Group 14"/>
            <p:cNvGrpSpPr>
              <a:grpSpLocks/>
            </p:cNvGrpSpPr>
            <p:nvPr/>
          </p:nvGrpSpPr>
          <p:grpSpPr bwMode="auto">
            <a:xfrm>
              <a:off x="2064" y="1824"/>
              <a:ext cx="1152" cy="480"/>
              <a:chOff x="2064" y="1824"/>
              <a:chExt cx="1152" cy="480"/>
            </a:xfrm>
          </p:grpSpPr>
          <p:sp>
            <p:nvSpPr>
              <p:cNvPr id="98321" name="Rectangle 15"/>
              <p:cNvSpPr>
                <a:spLocks noChangeArrowheads="1"/>
              </p:cNvSpPr>
              <p:nvPr/>
            </p:nvSpPr>
            <p:spPr bwMode="auto">
              <a:xfrm>
                <a:off x="2064" y="1824"/>
                <a:ext cx="1152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next =</a:t>
                </a:r>
              </a:p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data = "Dick"</a:t>
                </a:r>
              </a:p>
            </p:txBody>
          </p:sp>
          <p:sp>
            <p:nvSpPr>
              <p:cNvPr id="98322" name="Rectangle 16"/>
              <p:cNvSpPr>
                <a:spLocks noChangeArrowheads="1"/>
              </p:cNvSpPr>
              <p:nvPr/>
            </p:nvSpPr>
            <p:spPr bwMode="auto">
              <a:xfrm>
                <a:off x="2688" y="1944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/>
                  <a:t>null</a:t>
                </a:r>
              </a:p>
            </p:txBody>
          </p:sp>
        </p:grpSp>
        <p:sp>
          <p:nvSpPr>
            <p:cNvPr id="98320" name="Rectangle 17"/>
            <p:cNvSpPr>
              <a:spLocks noChangeArrowheads="1"/>
            </p:cNvSpPr>
            <p:nvPr/>
          </p:nvSpPr>
          <p:spPr bwMode="auto">
            <a:xfrm>
              <a:off x="2064" y="1488"/>
              <a:ext cx="115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u="sng">
                  <a:solidFill>
                    <a:schemeClr val="accent2"/>
                  </a:solidFill>
                  <a:latin typeface="Courier New" pitchFamily="49" charset="0"/>
                </a:rPr>
                <a:t>Node&lt;String&gt;</a:t>
              </a:r>
            </a:p>
          </p:txBody>
        </p:sp>
      </p:grpSp>
      <p:cxnSp>
        <p:nvCxnSpPr>
          <p:cNvPr id="165906" name="AutoShape 18"/>
          <p:cNvCxnSpPr>
            <a:cxnSpLocks noChangeShapeType="1"/>
          </p:cNvCxnSpPr>
          <p:nvPr/>
        </p:nvCxnSpPr>
        <p:spPr bwMode="auto">
          <a:xfrm rot="5400000" flipH="1" flipV="1">
            <a:off x="2556034" y="2417384"/>
            <a:ext cx="609600" cy="1219200"/>
          </a:xfrm>
          <a:prstGeom prst="curvedConnector4">
            <a:avLst>
              <a:gd name="adj1" fmla="val 1560"/>
              <a:gd name="adj2" fmla="val 6562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98310" name="AutoShape 19"/>
          <p:cNvCxnSpPr>
            <a:cxnSpLocks noChangeShapeType="1"/>
          </p:cNvCxnSpPr>
          <p:nvPr/>
        </p:nvCxnSpPr>
        <p:spPr bwMode="auto">
          <a:xfrm rot="5400000" flipH="1" flipV="1">
            <a:off x="5070634" y="2494181"/>
            <a:ext cx="609600" cy="1066800"/>
          </a:xfrm>
          <a:prstGeom prst="curvedConnector4">
            <a:avLst>
              <a:gd name="adj1" fmla="val 1560"/>
              <a:gd name="adj2" fmla="val 6785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grpSp>
        <p:nvGrpSpPr>
          <p:cNvPr id="165908" name="Group 20"/>
          <p:cNvGrpSpPr>
            <a:grpSpLocks/>
          </p:cNvGrpSpPr>
          <p:nvPr/>
        </p:nvGrpSpPr>
        <p:grpSpPr bwMode="auto">
          <a:xfrm>
            <a:off x="1216184" y="4271852"/>
            <a:ext cx="1828800" cy="1295400"/>
            <a:chOff x="2064" y="1488"/>
            <a:chExt cx="1152" cy="816"/>
          </a:xfrm>
        </p:grpSpPr>
        <p:grpSp>
          <p:nvGrpSpPr>
            <p:cNvPr id="98315" name="Group 21"/>
            <p:cNvGrpSpPr>
              <a:grpSpLocks/>
            </p:cNvGrpSpPr>
            <p:nvPr/>
          </p:nvGrpSpPr>
          <p:grpSpPr bwMode="auto">
            <a:xfrm>
              <a:off x="2064" y="1824"/>
              <a:ext cx="1152" cy="480"/>
              <a:chOff x="2064" y="1824"/>
              <a:chExt cx="1152" cy="480"/>
            </a:xfrm>
          </p:grpSpPr>
          <p:sp>
            <p:nvSpPr>
              <p:cNvPr id="98317" name="Rectangle 22"/>
              <p:cNvSpPr>
                <a:spLocks noChangeArrowheads="1"/>
              </p:cNvSpPr>
              <p:nvPr/>
            </p:nvSpPr>
            <p:spPr bwMode="auto">
              <a:xfrm>
                <a:off x="2064" y="1824"/>
                <a:ext cx="1152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next =</a:t>
                </a:r>
              </a:p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data = "Ann"</a:t>
                </a:r>
              </a:p>
            </p:txBody>
          </p:sp>
          <p:sp>
            <p:nvSpPr>
              <p:cNvPr id="98318" name="Rectangle 23"/>
              <p:cNvSpPr>
                <a:spLocks noChangeArrowheads="1"/>
              </p:cNvSpPr>
              <p:nvPr/>
            </p:nvSpPr>
            <p:spPr bwMode="auto">
              <a:xfrm>
                <a:off x="2688" y="1944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8316" name="Rectangle 24"/>
            <p:cNvSpPr>
              <a:spLocks noChangeArrowheads="1"/>
            </p:cNvSpPr>
            <p:nvPr/>
          </p:nvSpPr>
          <p:spPr bwMode="auto">
            <a:xfrm>
              <a:off x="2064" y="1488"/>
              <a:ext cx="115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u="sng">
                  <a:solidFill>
                    <a:schemeClr val="accent2"/>
                  </a:solidFill>
                  <a:latin typeface="Courier New" pitchFamily="49" charset="0"/>
                </a:rPr>
                <a:t>Node&lt;String&gt;</a:t>
              </a:r>
            </a:p>
          </p:txBody>
        </p:sp>
      </p:grpSp>
      <p:cxnSp>
        <p:nvCxnSpPr>
          <p:cNvPr id="165913" name="AutoShape 25"/>
          <p:cNvCxnSpPr>
            <a:cxnSpLocks noChangeShapeType="1"/>
            <a:endCxn id="98324" idx="1"/>
          </p:cNvCxnSpPr>
          <p:nvPr/>
        </p:nvCxnSpPr>
        <p:spPr bwMode="auto">
          <a:xfrm rot="5400000" flipH="1" flipV="1">
            <a:off x="2000006" y="3617304"/>
            <a:ext cx="2288751" cy="652106"/>
          </a:xfrm>
          <a:prstGeom prst="curvedConnector2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</p:spPr>
      </p:cxnSp>
      <p:cxnSp>
        <p:nvCxnSpPr>
          <p:cNvPr id="165914" name="AutoShape 26"/>
          <p:cNvCxnSpPr>
            <a:cxnSpLocks noChangeShapeType="1"/>
          </p:cNvCxnSpPr>
          <p:nvPr/>
        </p:nvCxnSpPr>
        <p:spPr bwMode="auto">
          <a:xfrm rot="5400000">
            <a:off x="1043566" y="3425084"/>
            <a:ext cx="1312863" cy="1130300"/>
          </a:xfrm>
          <a:prstGeom prst="curvedConnector4">
            <a:avLst>
              <a:gd name="adj1" fmla="val 39782"/>
              <a:gd name="adj2" fmla="val 120227"/>
            </a:avLst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</p:spPr>
      </p:cxnSp>
      <p:sp>
        <p:nvSpPr>
          <p:cNvPr id="165915" name="AutoShape 27"/>
          <p:cNvSpPr>
            <a:spLocks/>
          </p:cNvSpPr>
          <p:nvPr/>
        </p:nvSpPr>
        <p:spPr bwMode="auto">
          <a:xfrm>
            <a:off x="5390424" y="5607003"/>
            <a:ext cx="2396966" cy="647700"/>
          </a:xfrm>
          <a:prstGeom prst="borderCallout1">
            <a:avLst>
              <a:gd name="adj1" fmla="val 17648"/>
              <a:gd name="adj2" fmla="val -4000"/>
              <a:gd name="adj3" fmla="val -17648"/>
              <a:gd name="adj4" fmla="val -100000"/>
            </a:avLst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b="0" dirty="0"/>
              <a:t>The element to be added to the 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549" y="1606788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109" y="2040136"/>
            <a:ext cx="644525" cy="30164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651034" y="2227481"/>
            <a:ext cx="667742" cy="304800"/>
          </a:xfrm>
          <a:prstGeom prst="straightConnector1">
            <a:avLst/>
          </a:prstGeom>
          <a:ln w="2540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171984" y="1668680"/>
            <a:ext cx="5365571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Details of action: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names.addFirst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("Ann");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starting from list content in previous slide.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037" y="3484781"/>
            <a:ext cx="1007224" cy="246221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92D050"/>
                </a:solidFill>
                <a:latin typeface="Courier New" pitchFamily="49" charset="0"/>
              </a:rPr>
              <a:t>size =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3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4018818" y="4056003"/>
            <a:ext cx="1669718" cy="1087875"/>
            <a:chOff x="5257800" y="4442567"/>
            <a:chExt cx="2104460" cy="1087875"/>
          </a:xfrm>
        </p:grpSpPr>
        <p:grpSp>
          <p:nvGrpSpPr>
            <p:cNvPr id="34" name="Group 33"/>
            <p:cNvGrpSpPr/>
            <p:nvPr/>
          </p:nvGrpSpPr>
          <p:grpSpPr>
            <a:xfrm>
              <a:off x="5257800" y="4442567"/>
              <a:ext cx="2104460" cy="1087875"/>
              <a:chOff x="5257798" y="4442567"/>
              <a:chExt cx="1870631" cy="1087875"/>
            </a:xfrm>
          </p:grpSpPr>
          <p:sp>
            <p:nvSpPr>
              <p:cNvPr id="36" name="Rectangle 35"/>
              <p:cNvSpPr/>
              <p:nvPr/>
            </p:nvSpPr>
            <p:spPr>
              <a:xfrm>
                <a:off x="5257798" y="4442567"/>
                <a:ext cx="1870630" cy="4431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Node</a:t>
                </a:r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5257799" y="4876800"/>
                <a:ext cx="1870630" cy="65364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value = </a:t>
                </a:r>
                <a:r>
                  <a:rPr lang="en-US" sz="1400" dirty="0">
                    <a:solidFill>
                      <a:schemeClr val="tx1"/>
                    </a:solidFill>
                    <a:latin typeface="Courier New" pitchFamily="49" charset="0"/>
                  </a:rPr>
                  <a:t>"Tom"</a:t>
                </a:r>
                <a:endParaRPr lang="en-US" sz="14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5" name="TextBox 34"/>
            <p:cNvSpPr txBox="1"/>
            <p:nvPr/>
          </p:nvSpPr>
          <p:spPr>
            <a:xfrm>
              <a:off x="5316012" y="4475497"/>
              <a:ext cx="172145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String</a:t>
              </a:r>
              <a:endParaRPr lang="en-US" sz="1400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384502" y="4085034"/>
            <a:ext cx="1669718" cy="1087875"/>
            <a:chOff x="5257800" y="4442567"/>
            <a:chExt cx="2104460" cy="1087875"/>
          </a:xfrm>
        </p:grpSpPr>
        <p:grpSp>
          <p:nvGrpSpPr>
            <p:cNvPr id="39" name="Group 38"/>
            <p:cNvGrpSpPr/>
            <p:nvPr/>
          </p:nvGrpSpPr>
          <p:grpSpPr>
            <a:xfrm>
              <a:off x="5257800" y="4442567"/>
              <a:ext cx="2104460" cy="1087875"/>
              <a:chOff x="5257798" y="4442567"/>
              <a:chExt cx="1870631" cy="1087875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5257798" y="4442567"/>
                <a:ext cx="1870630" cy="4431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Node</a:t>
                </a:r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5257799" y="4876800"/>
                <a:ext cx="1870630" cy="65364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value =  “Dick"</a:t>
                </a:r>
              </a:p>
            </p:txBody>
          </p:sp>
        </p:grpSp>
        <p:sp>
          <p:nvSpPr>
            <p:cNvPr id="40" name="TextBox 39"/>
            <p:cNvSpPr txBox="1"/>
            <p:nvPr/>
          </p:nvSpPr>
          <p:spPr>
            <a:xfrm>
              <a:off x="5316012" y="4475497"/>
              <a:ext cx="172145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String</a:t>
              </a:r>
              <a:endParaRPr lang="en-US" sz="1400" dirty="0">
                <a:solidFill>
                  <a:srgbClr val="00B0F0"/>
                </a:solidFill>
              </a:endParaRPr>
            </a:p>
          </p:txBody>
        </p:sp>
      </p:grpSp>
      <p:sp>
        <p:nvSpPr>
          <p:cNvPr id="43" name="Rectangle 21"/>
          <p:cNvSpPr>
            <a:spLocks noChangeArrowheads="1"/>
          </p:cNvSpPr>
          <p:nvPr/>
        </p:nvSpPr>
        <p:spPr bwMode="auto">
          <a:xfrm>
            <a:off x="4457111" y="3457703"/>
            <a:ext cx="762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Rectangle 21"/>
          <p:cNvSpPr>
            <a:spLocks noChangeArrowheads="1"/>
          </p:cNvSpPr>
          <p:nvPr/>
        </p:nvSpPr>
        <p:spPr bwMode="auto">
          <a:xfrm>
            <a:off x="6838361" y="3493440"/>
            <a:ext cx="762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5" name="Straight Arrow Connector 44"/>
          <p:cNvCxnSpPr/>
          <p:nvPr/>
        </p:nvCxnSpPr>
        <p:spPr>
          <a:xfrm flipH="1">
            <a:off x="4561079" y="3566416"/>
            <a:ext cx="277032" cy="477920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6917901" y="3574453"/>
            <a:ext cx="277032" cy="477920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/>
          <p:cNvGrpSpPr/>
          <p:nvPr/>
        </p:nvGrpSpPr>
        <p:grpSpPr>
          <a:xfrm>
            <a:off x="1416375" y="5770125"/>
            <a:ext cx="1669718" cy="1087875"/>
            <a:chOff x="5257800" y="4442567"/>
            <a:chExt cx="2104460" cy="1087875"/>
          </a:xfrm>
        </p:grpSpPr>
        <p:grpSp>
          <p:nvGrpSpPr>
            <p:cNvPr id="48" name="Group 47"/>
            <p:cNvGrpSpPr/>
            <p:nvPr/>
          </p:nvGrpSpPr>
          <p:grpSpPr>
            <a:xfrm>
              <a:off x="5257800" y="4442567"/>
              <a:ext cx="2104460" cy="1087875"/>
              <a:chOff x="5257798" y="4442567"/>
              <a:chExt cx="1870631" cy="1087875"/>
            </a:xfrm>
          </p:grpSpPr>
          <p:sp>
            <p:nvSpPr>
              <p:cNvPr id="50" name="Rectangle 49"/>
              <p:cNvSpPr/>
              <p:nvPr/>
            </p:nvSpPr>
            <p:spPr>
              <a:xfrm>
                <a:off x="5257798" y="4442567"/>
                <a:ext cx="1870630" cy="4431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Node</a:t>
                </a:r>
              </a:p>
            </p:txBody>
          </p:sp>
          <p:sp>
            <p:nvSpPr>
              <p:cNvPr id="51" name="Rectangle 50"/>
              <p:cNvSpPr/>
              <p:nvPr/>
            </p:nvSpPr>
            <p:spPr>
              <a:xfrm>
                <a:off x="5257799" y="4876800"/>
                <a:ext cx="1870630" cy="65364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value = </a:t>
                </a:r>
                <a:r>
                  <a:rPr lang="en-US" sz="1400" dirty="0">
                    <a:solidFill>
                      <a:schemeClr val="tx1"/>
                    </a:solidFill>
                    <a:latin typeface="Courier New" pitchFamily="49" charset="0"/>
                  </a:rPr>
                  <a:t>"Ann"</a:t>
                </a:r>
                <a:endParaRPr lang="en-US" sz="1400" b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9" name="TextBox 48"/>
            <p:cNvSpPr txBox="1"/>
            <p:nvPr/>
          </p:nvSpPr>
          <p:spPr>
            <a:xfrm>
              <a:off x="5316012" y="4475497"/>
              <a:ext cx="172145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String</a:t>
              </a:r>
              <a:endParaRPr lang="en-US" sz="1400" dirty="0">
                <a:solidFill>
                  <a:srgbClr val="00B0F0"/>
                </a:solidFill>
              </a:endParaRPr>
            </a:p>
          </p:txBody>
        </p:sp>
      </p:grpSp>
      <p:sp>
        <p:nvSpPr>
          <p:cNvPr id="54" name="Rectangle 21"/>
          <p:cNvSpPr>
            <a:spLocks noChangeArrowheads="1"/>
          </p:cNvSpPr>
          <p:nvPr/>
        </p:nvSpPr>
        <p:spPr bwMode="auto">
          <a:xfrm>
            <a:off x="2148399" y="5225663"/>
            <a:ext cx="762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2252367" y="5334376"/>
            <a:ext cx="277032" cy="477920"/>
          </a:xfrm>
          <a:prstGeom prst="straightConnector1">
            <a:avLst/>
          </a:prstGeom>
          <a:ln>
            <a:solidFill>
              <a:schemeClr val="tx1"/>
            </a:solidFill>
            <a:headEnd type="oval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4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5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65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65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2000"/>
                                        <p:tgtEl>
                                          <p:spTgt spid="1659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5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65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915" grpId="0" animBg="1"/>
      <p:bldP spid="6" grpId="0" animBg="1"/>
      <p:bldP spid="5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153400" cy="990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/>
              <a:t>Implementing</a:t>
            </a:r>
            <a:r>
              <a:rPr lang="en-US" dirty="0"/>
              <a:t> </a:t>
            </a:r>
            <a:br>
              <a:rPr lang="en-US" dirty="0"/>
            </a:br>
            <a:r>
              <a:rPr lang="en-US" sz="3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 void </a:t>
            </a:r>
            <a:r>
              <a:rPr lang="en-US" sz="3100" dirty="0" err="1">
                <a:latin typeface="Courier New" pitchFamily="49" charset="0"/>
              </a:rPr>
              <a:t>addFirst</a:t>
            </a:r>
            <a:r>
              <a:rPr lang="en-US" sz="3100" dirty="0">
                <a:latin typeface="Courier New" pitchFamily="49" charset="0"/>
              </a:rPr>
              <a:t>(E item) </a:t>
            </a:r>
            <a:r>
              <a:rPr lang="en-US" dirty="0">
                <a:latin typeface="+mn-lt"/>
              </a:rPr>
              <a:t>(cont.)</a:t>
            </a:r>
          </a:p>
        </p:txBody>
      </p:sp>
      <p:sp>
        <p:nvSpPr>
          <p:cNvPr id="166939" name="Rectangle 27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62500" lnSpcReduction="20000"/>
          </a:bodyPr>
          <a:lstStyle/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4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4000" b="1" dirty="0">
                <a:latin typeface="Courier New" pitchFamily="49" charset="0"/>
                <a:cs typeface="Courier New" pitchFamily="49" charset="0"/>
              </a:rPr>
              <a:t> void addFirst (E item) {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4000" b="1" dirty="0">
                <a:latin typeface="Courier New" pitchFamily="49" charset="0"/>
                <a:cs typeface="Courier New" pitchFamily="49" charset="0"/>
              </a:rPr>
              <a:t>  Node&lt;E&gt; temp = new Node&lt;E&gt;(item, head);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4000" b="1" dirty="0">
                <a:latin typeface="Courier New" pitchFamily="49" charset="0"/>
                <a:cs typeface="Courier New" pitchFamily="49" charset="0"/>
              </a:rPr>
              <a:t>  head = temp;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4000" b="1" dirty="0">
                <a:latin typeface="Courier New" pitchFamily="49" charset="0"/>
                <a:cs typeface="Courier New" pitchFamily="49" charset="0"/>
              </a:rPr>
              <a:t>  size++;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46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4500" b="1" dirty="0"/>
              <a:t>or, more simply ...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3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3800" b="1" dirty="0">
                <a:latin typeface="Courier New" pitchFamily="49" charset="0"/>
                <a:cs typeface="Courier New" pitchFamily="49" charset="0"/>
              </a:rPr>
              <a:t> void addFirst (E item) {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3800" b="1" dirty="0">
                <a:latin typeface="Courier New" pitchFamily="49" charset="0"/>
                <a:cs typeface="Courier New" pitchFamily="49" charset="0"/>
              </a:rPr>
              <a:t>  head = new Node&lt;E&gt;(item, head);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3800" b="1" dirty="0">
                <a:latin typeface="Courier New" pitchFamily="49" charset="0"/>
                <a:cs typeface="Courier New" pitchFamily="49" charset="0"/>
              </a:rPr>
              <a:t>  size++;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3800" b="1" dirty="0"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/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4500" b="1" dirty="0"/>
              <a:t>This works even if </a:t>
            </a:r>
            <a:r>
              <a:rPr lang="en-US" sz="4500" b="1" dirty="0">
                <a:latin typeface="Courier New" pitchFamily="49" charset="0"/>
                <a:cs typeface="Courier New" pitchFamily="49" charset="0"/>
              </a:rPr>
              <a:t>head</a:t>
            </a:r>
            <a:r>
              <a:rPr lang="en-US" sz="4500" b="1" dirty="0"/>
              <a:t> is null</a:t>
            </a:r>
          </a:p>
        </p:txBody>
      </p:sp>
    </p:spTree>
    <p:extLst>
      <p:ext uri="{BB962C8B-B14F-4D97-AF65-F5344CB8AC3E}">
        <p14:creationId xmlns:p14="http://schemas.microsoft.com/office/powerpoint/2010/main" val="69275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3999" cy="990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/>
              <a:t>Implementing helper method</a:t>
            </a:r>
            <a:r>
              <a:rPr lang="en-US" dirty="0"/>
              <a:t> </a:t>
            </a:r>
            <a:br>
              <a:rPr lang="en-US" dirty="0"/>
            </a:br>
            <a:r>
              <a:rPr lang="en-US" sz="3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3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void </a:t>
            </a:r>
            <a:r>
              <a:rPr lang="en-US" sz="3100" dirty="0" err="1">
                <a:latin typeface="Courier New" pitchFamily="49" charset="0"/>
              </a:rPr>
              <a:t>addAfter</a:t>
            </a:r>
            <a:r>
              <a:rPr lang="en-US" sz="3100" dirty="0">
                <a:latin typeface="Courier New" pitchFamily="49" charset="0"/>
              </a:rPr>
              <a:t>(Node&lt;E&gt; </a:t>
            </a:r>
            <a:r>
              <a:rPr lang="en-US" sz="3100" dirty="0" err="1">
                <a:latin typeface="Courier New" pitchFamily="49" charset="0"/>
              </a:rPr>
              <a:t>node,E</a:t>
            </a:r>
            <a:r>
              <a:rPr lang="en-US" sz="3100" dirty="0">
                <a:latin typeface="Courier New" pitchFamily="49" charset="0"/>
              </a:rPr>
              <a:t> item)</a:t>
            </a:r>
            <a:endParaRPr lang="en-US" sz="2700" dirty="0">
              <a:latin typeface="Courier New" pitchFamily="49" charset="0"/>
            </a:endParaRPr>
          </a:p>
        </p:txBody>
      </p:sp>
      <p:grpSp>
        <p:nvGrpSpPr>
          <p:cNvPr id="100375" name="Group 4"/>
          <p:cNvGrpSpPr>
            <a:grpSpLocks/>
          </p:cNvGrpSpPr>
          <p:nvPr/>
        </p:nvGrpSpPr>
        <p:grpSpPr bwMode="auto">
          <a:xfrm>
            <a:off x="952402" y="3199453"/>
            <a:ext cx="1828800" cy="758825"/>
            <a:chOff x="432" y="1824"/>
            <a:chExt cx="1152" cy="478"/>
          </a:xfrm>
        </p:grpSpPr>
        <p:sp>
          <p:nvSpPr>
            <p:cNvPr id="100377" name="Rectangle 5"/>
            <p:cNvSpPr>
              <a:spLocks noChangeArrowheads="1"/>
            </p:cNvSpPr>
            <p:nvPr/>
          </p:nvSpPr>
          <p:spPr bwMode="auto">
            <a:xfrm>
              <a:off x="432" y="1824"/>
              <a:ext cx="1152" cy="478"/>
            </a:xfrm>
            <a:prstGeom prst="rect">
              <a:avLst/>
            </a:prstGeom>
            <a:solidFill>
              <a:srgbClr val="7030A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 dirty="0">
                <a:solidFill>
                  <a:srgbClr val="92D050"/>
                </a:solidFill>
                <a:latin typeface="Courier New" pitchFamily="49" charset="0"/>
              </a:endParaRPr>
            </a:p>
            <a:p>
              <a:r>
                <a:rPr lang="en-US" sz="1600" dirty="0">
                  <a:solidFill>
                    <a:srgbClr val="92D050"/>
                  </a:solidFill>
                  <a:latin typeface="Courier New" pitchFamily="49" charset="0"/>
                </a:rPr>
                <a:t>head =       </a:t>
              </a:r>
            </a:p>
            <a:p>
              <a:r>
                <a:rPr lang="en-US" sz="1600" dirty="0">
                  <a:solidFill>
                    <a:srgbClr val="92D050"/>
                  </a:solidFill>
                  <a:latin typeface="Courier New" pitchFamily="49" charset="0"/>
                </a:rPr>
                <a:t>size = 2</a:t>
              </a:r>
            </a:p>
            <a:p>
              <a:endParaRPr lang="en-US" sz="1600" dirty="0">
                <a:solidFill>
                  <a:srgbClr val="92D050"/>
                </a:solidFill>
                <a:latin typeface="Courier New" pitchFamily="49" charset="0"/>
              </a:endParaRPr>
            </a:p>
          </p:txBody>
        </p:sp>
        <p:sp>
          <p:nvSpPr>
            <p:cNvPr id="100378" name="Rectangle 6"/>
            <p:cNvSpPr>
              <a:spLocks noChangeArrowheads="1"/>
            </p:cNvSpPr>
            <p:nvPr/>
          </p:nvSpPr>
          <p:spPr bwMode="auto">
            <a:xfrm>
              <a:off x="1056" y="1944"/>
              <a:ext cx="480" cy="9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0376" name="Rectangle 7"/>
          <p:cNvSpPr>
            <a:spLocks noChangeArrowheads="1"/>
          </p:cNvSpPr>
          <p:nvPr/>
        </p:nvSpPr>
        <p:spPr bwMode="auto">
          <a:xfrm>
            <a:off x="942557" y="2661687"/>
            <a:ext cx="18288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u="sng" dirty="0" err="1">
                <a:solidFill>
                  <a:schemeClr val="accent2"/>
                </a:solidFill>
                <a:latin typeface="Courier New" pitchFamily="49" charset="0"/>
              </a:rPr>
              <a:t>SingleLinkedList</a:t>
            </a:r>
            <a:endParaRPr lang="en-US" sz="1600" u="sng" dirty="0">
              <a:solidFill>
                <a:schemeClr val="accent2"/>
              </a:solidFill>
              <a:latin typeface="Courier New" pitchFamily="49" charset="0"/>
            </a:endParaRPr>
          </a:p>
          <a:p>
            <a:pPr algn="ctr"/>
            <a:r>
              <a:rPr lang="en-US" sz="1600" u="sng" dirty="0">
                <a:solidFill>
                  <a:schemeClr val="accent2"/>
                </a:solidFill>
                <a:latin typeface="Courier New" pitchFamily="49" charset="0"/>
              </a:rPr>
              <a:t>&lt;String&gt;</a:t>
            </a:r>
          </a:p>
        </p:txBody>
      </p:sp>
      <p:grpSp>
        <p:nvGrpSpPr>
          <p:cNvPr id="100355" name="Group 8"/>
          <p:cNvGrpSpPr>
            <a:grpSpLocks/>
          </p:cNvGrpSpPr>
          <p:nvPr/>
        </p:nvGrpSpPr>
        <p:grpSpPr bwMode="auto">
          <a:xfrm>
            <a:off x="3543202" y="2619465"/>
            <a:ext cx="1828800" cy="1295400"/>
            <a:chOff x="2064" y="1488"/>
            <a:chExt cx="1152" cy="816"/>
          </a:xfrm>
        </p:grpSpPr>
        <p:grpSp>
          <p:nvGrpSpPr>
            <p:cNvPr id="100371" name="Group 9"/>
            <p:cNvGrpSpPr>
              <a:grpSpLocks/>
            </p:cNvGrpSpPr>
            <p:nvPr/>
          </p:nvGrpSpPr>
          <p:grpSpPr bwMode="auto">
            <a:xfrm>
              <a:off x="2064" y="1824"/>
              <a:ext cx="1152" cy="480"/>
              <a:chOff x="2064" y="1824"/>
              <a:chExt cx="1152" cy="480"/>
            </a:xfrm>
          </p:grpSpPr>
          <p:sp>
            <p:nvSpPr>
              <p:cNvPr id="100373" name="Rectangle 10"/>
              <p:cNvSpPr>
                <a:spLocks noChangeArrowheads="1"/>
              </p:cNvSpPr>
              <p:nvPr/>
            </p:nvSpPr>
            <p:spPr bwMode="auto">
              <a:xfrm>
                <a:off x="2064" y="1824"/>
                <a:ext cx="1152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next =</a:t>
                </a:r>
              </a:p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data = "Tom"</a:t>
                </a:r>
              </a:p>
            </p:txBody>
          </p:sp>
          <p:sp>
            <p:nvSpPr>
              <p:cNvPr id="100374" name="Rectangle 11"/>
              <p:cNvSpPr>
                <a:spLocks noChangeArrowheads="1"/>
              </p:cNvSpPr>
              <p:nvPr/>
            </p:nvSpPr>
            <p:spPr bwMode="auto">
              <a:xfrm>
                <a:off x="2688" y="1944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0372" name="Rectangle 12"/>
            <p:cNvSpPr>
              <a:spLocks noChangeArrowheads="1"/>
            </p:cNvSpPr>
            <p:nvPr/>
          </p:nvSpPr>
          <p:spPr bwMode="auto">
            <a:xfrm>
              <a:off x="2064" y="1488"/>
              <a:ext cx="115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u="sng">
                  <a:solidFill>
                    <a:schemeClr val="accent2"/>
                  </a:solidFill>
                  <a:latin typeface="Courier New" pitchFamily="49" charset="0"/>
                </a:rPr>
                <a:t>Node&lt;String&gt;</a:t>
              </a:r>
            </a:p>
          </p:txBody>
        </p:sp>
      </p:grpSp>
      <p:grpSp>
        <p:nvGrpSpPr>
          <p:cNvPr id="100356" name="Group 13"/>
          <p:cNvGrpSpPr>
            <a:grpSpLocks/>
          </p:cNvGrpSpPr>
          <p:nvPr/>
        </p:nvGrpSpPr>
        <p:grpSpPr bwMode="auto">
          <a:xfrm>
            <a:off x="5981602" y="2619465"/>
            <a:ext cx="1828800" cy="1295400"/>
            <a:chOff x="2064" y="1488"/>
            <a:chExt cx="1152" cy="816"/>
          </a:xfrm>
        </p:grpSpPr>
        <p:grpSp>
          <p:nvGrpSpPr>
            <p:cNvPr id="100367" name="Group 14"/>
            <p:cNvGrpSpPr>
              <a:grpSpLocks/>
            </p:cNvGrpSpPr>
            <p:nvPr/>
          </p:nvGrpSpPr>
          <p:grpSpPr bwMode="auto">
            <a:xfrm>
              <a:off x="2064" y="1824"/>
              <a:ext cx="1152" cy="480"/>
              <a:chOff x="2064" y="1824"/>
              <a:chExt cx="1152" cy="480"/>
            </a:xfrm>
          </p:grpSpPr>
          <p:sp>
            <p:nvSpPr>
              <p:cNvPr id="100369" name="Rectangle 15"/>
              <p:cNvSpPr>
                <a:spLocks noChangeArrowheads="1"/>
              </p:cNvSpPr>
              <p:nvPr/>
            </p:nvSpPr>
            <p:spPr bwMode="auto">
              <a:xfrm>
                <a:off x="2064" y="1824"/>
                <a:ext cx="1152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next =</a:t>
                </a:r>
              </a:p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data = "Dick"</a:t>
                </a:r>
              </a:p>
            </p:txBody>
          </p:sp>
          <p:sp>
            <p:nvSpPr>
              <p:cNvPr id="100370" name="Rectangle 16"/>
              <p:cNvSpPr>
                <a:spLocks noChangeArrowheads="1"/>
              </p:cNvSpPr>
              <p:nvPr/>
            </p:nvSpPr>
            <p:spPr bwMode="auto">
              <a:xfrm>
                <a:off x="2688" y="1944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/>
                  <a:t>null</a:t>
                </a:r>
              </a:p>
            </p:txBody>
          </p:sp>
        </p:grpSp>
        <p:sp>
          <p:nvSpPr>
            <p:cNvPr id="100368" name="Rectangle 17"/>
            <p:cNvSpPr>
              <a:spLocks noChangeArrowheads="1"/>
            </p:cNvSpPr>
            <p:nvPr/>
          </p:nvSpPr>
          <p:spPr bwMode="auto">
            <a:xfrm>
              <a:off x="2064" y="1488"/>
              <a:ext cx="115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u="sng">
                  <a:solidFill>
                    <a:schemeClr val="accent2"/>
                  </a:solidFill>
                  <a:latin typeface="Courier New" pitchFamily="49" charset="0"/>
                </a:rPr>
                <a:t>Node&lt;String&gt;</a:t>
              </a:r>
            </a:p>
          </p:txBody>
        </p:sp>
      </p:grpSp>
      <p:cxnSp>
        <p:nvCxnSpPr>
          <p:cNvPr id="168979" name="AutoShape 19"/>
          <p:cNvCxnSpPr>
            <a:cxnSpLocks noChangeShapeType="1"/>
          </p:cNvCxnSpPr>
          <p:nvPr/>
        </p:nvCxnSpPr>
        <p:spPr bwMode="auto">
          <a:xfrm rot="5400000" flipH="1" flipV="1">
            <a:off x="5143402" y="2581365"/>
            <a:ext cx="609600" cy="1066800"/>
          </a:xfrm>
          <a:prstGeom prst="curvedConnector4">
            <a:avLst>
              <a:gd name="adj1" fmla="val 1560"/>
              <a:gd name="adj2" fmla="val 6785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grpSp>
        <p:nvGrpSpPr>
          <p:cNvPr id="168980" name="Group 20"/>
          <p:cNvGrpSpPr>
            <a:grpSpLocks/>
          </p:cNvGrpSpPr>
          <p:nvPr/>
        </p:nvGrpSpPr>
        <p:grpSpPr bwMode="auto">
          <a:xfrm>
            <a:off x="4762402" y="4478428"/>
            <a:ext cx="1828800" cy="1295400"/>
            <a:chOff x="2064" y="1488"/>
            <a:chExt cx="1152" cy="816"/>
          </a:xfrm>
        </p:grpSpPr>
        <p:grpSp>
          <p:nvGrpSpPr>
            <p:cNvPr id="100363" name="Group 21"/>
            <p:cNvGrpSpPr>
              <a:grpSpLocks/>
            </p:cNvGrpSpPr>
            <p:nvPr/>
          </p:nvGrpSpPr>
          <p:grpSpPr bwMode="auto">
            <a:xfrm>
              <a:off x="2064" y="1824"/>
              <a:ext cx="1152" cy="480"/>
              <a:chOff x="2064" y="1824"/>
              <a:chExt cx="1152" cy="480"/>
            </a:xfrm>
          </p:grpSpPr>
          <p:sp>
            <p:nvSpPr>
              <p:cNvPr id="100365" name="Rectangle 22"/>
              <p:cNvSpPr>
                <a:spLocks noChangeArrowheads="1"/>
              </p:cNvSpPr>
              <p:nvPr/>
            </p:nvSpPr>
            <p:spPr bwMode="auto">
              <a:xfrm>
                <a:off x="2064" y="1824"/>
                <a:ext cx="1152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next =</a:t>
                </a:r>
              </a:p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data = "Ann"</a:t>
                </a:r>
              </a:p>
            </p:txBody>
          </p:sp>
          <p:sp>
            <p:nvSpPr>
              <p:cNvPr id="100366" name="Rectangle 23"/>
              <p:cNvSpPr>
                <a:spLocks noChangeArrowheads="1"/>
              </p:cNvSpPr>
              <p:nvPr/>
            </p:nvSpPr>
            <p:spPr bwMode="auto">
              <a:xfrm>
                <a:off x="2688" y="1944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0364" name="Rectangle 24"/>
            <p:cNvSpPr>
              <a:spLocks noChangeArrowheads="1"/>
            </p:cNvSpPr>
            <p:nvPr/>
          </p:nvSpPr>
          <p:spPr bwMode="auto">
            <a:xfrm>
              <a:off x="2064" y="1488"/>
              <a:ext cx="115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u="sng">
                  <a:solidFill>
                    <a:schemeClr val="accent2"/>
                  </a:solidFill>
                  <a:latin typeface="Courier New" pitchFamily="49" charset="0"/>
                </a:rPr>
                <a:t>Node&lt;String&gt;</a:t>
              </a:r>
            </a:p>
          </p:txBody>
        </p:sp>
      </p:grpSp>
      <p:sp>
        <p:nvSpPr>
          <p:cNvPr id="168988" name="AutoShape 28"/>
          <p:cNvSpPr>
            <a:spLocks/>
          </p:cNvSpPr>
          <p:nvPr/>
        </p:nvSpPr>
        <p:spPr bwMode="auto">
          <a:xfrm>
            <a:off x="864285" y="5638800"/>
            <a:ext cx="2171602" cy="685800"/>
          </a:xfrm>
          <a:prstGeom prst="borderCallout1">
            <a:avLst>
              <a:gd name="adj1" fmla="val 17648"/>
              <a:gd name="adj2" fmla="val 104000"/>
              <a:gd name="adj3" fmla="val -3921"/>
              <a:gd name="adj4" fmla="val 233417"/>
            </a:avLst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b="0" dirty="0"/>
              <a:t>The element to be added to the list</a:t>
            </a:r>
          </a:p>
        </p:txBody>
      </p:sp>
      <p:cxnSp>
        <p:nvCxnSpPr>
          <p:cNvPr id="168989" name="AutoShape 29"/>
          <p:cNvCxnSpPr>
            <a:cxnSpLocks noChangeShapeType="1"/>
          </p:cNvCxnSpPr>
          <p:nvPr/>
        </p:nvCxnSpPr>
        <p:spPr bwMode="auto">
          <a:xfrm flipH="1" flipV="1">
            <a:off x="5891088" y="2902982"/>
            <a:ext cx="533400" cy="2392363"/>
          </a:xfrm>
          <a:prstGeom prst="curvedConnector5">
            <a:avLst>
              <a:gd name="adj1" fmla="val -42857"/>
              <a:gd name="adj2" fmla="val 46019"/>
              <a:gd name="adj3" fmla="val 142857"/>
            </a:avLst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</p:spPr>
      </p:cxnSp>
      <p:cxnSp>
        <p:nvCxnSpPr>
          <p:cNvPr id="168990" name="AutoShape 30"/>
          <p:cNvCxnSpPr>
            <a:cxnSpLocks noChangeShapeType="1"/>
            <a:endCxn id="100364" idx="1"/>
          </p:cNvCxnSpPr>
          <p:nvPr/>
        </p:nvCxnSpPr>
        <p:spPr bwMode="auto">
          <a:xfrm rot="5400000">
            <a:off x="4319100" y="3875568"/>
            <a:ext cx="1312863" cy="426257"/>
          </a:xfrm>
          <a:prstGeom prst="curvedConnector4">
            <a:avLst>
              <a:gd name="adj1" fmla="val 39843"/>
              <a:gd name="adj2" fmla="val 153630"/>
            </a:avLst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</p:spPr>
      </p:cxnSp>
      <p:sp>
        <p:nvSpPr>
          <p:cNvPr id="29" name="TextBox 28"/>
          <p:cNvSpPr txBox="1"/>
          <p:nvPr/>
        </p:nvSpPr>
        <p:spPr>
          <a:xfrm>
            <a:off x="1747204" y="1752600"/>
            <a:ext cx="89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317" y="1693972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7877" y="2127320"/>
            <a:ext cx="644525" cy="301645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723802" y="2314665"/>
            <a:ext cx="667742" cy="304800"/>
          </a:xfrm>
          <a:prstGeom prst="straightConnector1">
            <a:avLst/>
          </a:prstGeom>
          <a:ln w="2540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902516" y="2110660"/>
            <a:ext cx="667603" cy="33496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2386938" y="2264050"/>
            <a:ext cx="1133295" cy="38477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919219" y="1520604"/>
            <a:ext cx="6224781" cy="92333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Details of action: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.addAfter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node,"Ann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starting from list content in Slide 16.</a:t>
            </a: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means: calling from INSIDE class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SingleLinkedList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0357" name="AutoShape 18"/>
          <p:cNvCxnSpPr>
            <a:cxnSpLocks noChangeShapeType="1"/>
          </p:cNvCxnSpPr>
          <p:nvPr/>
        </p:nvCxnSpPr>
        <p:spPr bwMode="auto">
          <a:xfrm rot="5400000" flipH="1" flipV="1">
            <a:off x="2628802" y="2517865"/>
            <a:ext cx="609600" cy="1219200"/>
          </a:xfrm>
          <a:prstGeom prst="curvedConnector4">
            <a:avLst>
              <a:gd name="adj1" fmla="val 1560"/>
              <a:gd name="adj2" fmla="val 6562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39" name="TextBox 38"/>
          <p:cNvSpPr txBox="1"/>
          <p:nvPr/>
        </p:nvSpPr>
        <p:spPr>
          <a:xfrm>
            <a:off x="1023965" y="3584898"/>
            <a:ext cx="1007224" cy="246221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92D050"/>
                </a:solidFill>
                <a:latin typeface="Courier New" pitchFamily="49" charset="0"/>
              </a:rPr>
              <a:t>size =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57108" y="5845563"/>
            <a:ext cx="542969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Note: the data field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dirty="0"/>
              <a:t> is a reference variable.</a:t>
            </a:r>
          </a:p>
          <a:p>
            <a:r>
              <a:rPr lang="en-US" dirty="0"/>
              <a:t>It references a String object. </a:t>
            </a:r>
          </a:p>
          <a:p>
            <a:r>
              <a:rPr lang="en-US" dirty="0"/>
              <a:t>The references are not shown here.</a:t>
            </a:r>
          </a:p>
        </p:txBody>
      </p:sp>
    </p:spTree>
    <p:extLst>
      <p:ext uri="{BB962C8B-B14F-4D97-AF65-F5344CB8AC3E}">
        <p14:creationId xmlns:p14="http://schemas.microsoft.com/office/powerpoint/2010/main" val="334609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8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68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68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/>
                                        <p:tgtEl>
                                          <p:spTgt spid="1689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68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88" grpId="0" animBg="1"/>
      <p:bldP spid="3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6387" y="190500"/>
            <a:ext cx="8766175" cy="990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/>
              <a:t>Implementing helper method </a:t>
            </a:r>
            <a:r>
              <a:rPr lang="en-US" dirty="0"/>
              <a:t>(cont.)</a:t>
            </a:r>
            <a:br>
              <a:rPr lang="en-US" b="1" dirty="0"/>
            </a:b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2800" b="1" dirty="0"/>
              <a:t> </a:t>
            </a:r>
            <a:r>
              <a:rPr lang="en-US" sz="2800" dirty="0"/>
              <a:t>void </a:t>
            </a:r>
            <a:r>
              <a:rPr lang="en-US" sz="3100" dirty="0" err="1">
                <a:latin typeface="Courier New" pitchFamily="49" charset="0"/>
              </a:rPr>
              <a:t>addAfter</a:t>
            </a:r>
            <a:r>
              <a:rPr lang="en-US" sz="3100" dirty="0">
                <a:latin typeface="Courier New" pitchFamily="49" charset="0"/>
              </a:rPr>
              <a:t>(Node&lt;E&gt; node, E item)</a:t>
            </a:r>
            <a:endParaRPr lang="en-US" dirty="0"/>
          </a:p>
        </p:txBody>
      </p:sp>
      <p:sp>
        <p:nvSpPr>
          <p:cNvPr id="170012" name="Rectangle 28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fontScale="92500" lnSpcReduction="20000"/>
          </a:bodyPr>
          <a:lstStyle/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void addAfter (Node&lt;E&gt; node, E item) {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 Node&lt;E&gt; temp = new Node&lt;E&gt;(item, node.next);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 node.next = temp;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 size++;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endParaRPr lang="en-US" dirty="0"/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3000" dirty="0"/>
              <a:t>or, more simply  ...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endParaRPr lang="en-US" dirty="0"/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void addAfter (Node&lt;E&gt; node, E item) {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 node.next = new Node&lt;E&gt;(item, node.next);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 size++;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Line Callout 1 3"/>
          <p:cNvSpPr/>
          <p:nvPr/>
        </p:nvSpPr>
        <p:spPr>
          <a:xfrm>
            <a:off x="4992569" y="2438400"/>
            <a:ext cx="3810000" cy="1828800"/>
          </a:xfrm>
          <a:prstGeom prst="borderCallout1">
            <a:avLst>
              <a:gd name="adj1" fmla="val 69496"/>
              <a:gd name="adj2" fmla="val -6542"/>
              <a:gd name="adj3" fmla="val 120530"/>
              <a:gd name="adj4" fmla="val -933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We declare this method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dirty="0"/>
              <a:t> since it should not be called from outside the class.  Later we will see how this method is used to implement the public add methods.</a:t>
            </a:r>
          </a:p>
        </p:txBody>
      </p:sp>
    </p:spTree>
    <p:extLst>
      <p:ext uri="{BB962C8B-B14F-4D97-AF65-F5344CB8AC3E}">
        <p14:creationId xmlns:p14="http://schemas.microsoft.com/office/powerpoint/2010/main" val="87804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5826" y="37261"/>
            <a:ext cx="8686800" cy="11430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/>
              <a:t>Implementing helper method</a:t>
            </a:r>
            <a:br>
              <a:rPr lang="en-US" b="1" dirty="0"/>
            </a:b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private</a:t>
            </a:r>
            <a:r>
              <a:rPr lang="en-US" dirty="0">
                <a:latin typeface="Courier New" pitchFamily="49" charset="0"/>
              </a:rPr>
              <a:t> E </a:t>
            </a:r>
            <a:r>
              <a:rPr lang="en-US" dirty="0" err="1">
                <a:latin typeface="Courier New" pitchFamily="49" charset="0"/>
              </a:rPr>
              <a:t>removeFirst</a:t>
            </a:r>
            <a:r>
              <a:rPr lang="en-US" dirty="0">
                <a:latin typeface="Courier New" pitchFamily="49" charset="0"/>
              </a:rPr>
              <a:t>()</a:t>
            </a:r>
          </a:p>
        </p:txBody>
      </p:sp>
      <p:grpSp>
        <p:nvGrpSpPr>
          <p:cNvPr id="104450" name="Group 3"/>
          <p:cNvGrpSpPr>
            <a:grpSpLocks/>
          </p:cNvGrpSpPr>
          <p:nvPr/>
        </p:nvGrpSpPr>
        <p:grpSpPr bwMode="auto">
          <a:xfrm>
            <a:off x="1262218" y="2552377"/>
            <a:ext cx="1938181" cy="1272639"/>
            <a:chOff x="432" y="1488"/>
            <a:chExt cx="1152" cy="672"/>
          </a:xfrm>
        </p:grpSpPr>
        <p:grpSp>
          <p:nvGrpSpPr>
            <p:cNvPr id="104466" name="Group 4"/>
            <p:cNvGrpSpPr>
              <a:grpSpLocks/>
            </p:cNvGrpSpPr>
            <p:nvPr/>
          </p:nvGrpSpPr>
          <p:grpSpPr bwMode="auto">
            <a:xfrm>
              <a:off x="432" y="1824"/>
              <a:ext cx="1152" cy="336"/>
              <a:chOff x="432" y="1824"/>
              <a:chExt cx="1152" cy="336"/>
            </a:xfrm>
          </p:grpSpPr>
          <p:sp>
            <p:nvSpPr>
              <p:cNvPr id="104468" name="Rectangle 5"/>
              <p:cNvSpPr>
                <a:spLocks noChangeArrowheads="1"/>
              </p:cNvSpPr>
              <p:nvPr/>
            </p:nvSpPr>
            <p:spPr bwMode="auto">
              <a:xfrm>
                <a:off x="432" y="1824"/>
                <a:ext cx="1152" cy="336"/>
              </a:xfrm>
              <a:prstGeom prst="rect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 dirty="0">
                  <a:solidFill>
                    <a:srgbClr val="92D050"/>
                  </a:solidFill>
                  <a:latin typeface="Courier New" pitchFamily="49" charset="0"/>
                </a:endParaRPr>
              </a:p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head =       </a:t>
                </a:r>
              </a:p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size = 2</a:t>
                </a:r>
              </a:p>
            </p:txBody>
          </p:sp>
          <p:sp>
            <p:nvSpPr>
              <p:cNvPr id="104469" name="Rectangle 6"/>
              <p:cNvSpPr>
                <a:spLocks noChangeArrowheads="1"/>
              </p:cNvSpPr>
              <p:nvPr/>
            </p:nvSpPr>
            <p:spPr bwMode="auto">
              <a:xfrm>
                <a:off x="1056" y="1944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4467" name="Rectangle 7"/>
            <p:cNvSpPr>
              <a:spLocks noChangeArrowheads="1"/>
            </p:cNvSpPr>
            <p:nvPr/>
          </p:nvSpPr>
          <p:spPr bwMode="auto">
            <a:xfrm>
              <a:off x="432" y="1488"/>
              <a:ext cx="115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u="sng" dirty="0" err="1">
                  <a:solidFill>
                    <a:schemeClr val="accent2"/>
                  </a:solidFill>
                  <a:latin typeface="Courier New" pitchFamily="49" charset="0"/>
                </a:rPr>
                <a:t>SingleLinkedList</a:t>
              </a:r>
              <a:endParaRPr lang="en-US" sz="1600" u="sng" dirty="0">
                <a:solidFill>
                  <a:schemeClr val="accent2"/>
                </a:solidFill>
                <a:latin typeface="Courier New" pitchFamily="49" charset="0"/>
              </a:endParaRPr>
            </a:p>
            <a:p>
              <a:pPr algn="ctr"/>
              <a:r>
                <a:rPr lang="en-US" sz="1600" u="sng" dirty="0">
                  <a:solidFill>
                    <a:schemeClr val="accent2"/>
                  </a:solidFill>
                  <a:latin typeface="Courier New" pitchFamily="49" charset="0"/>
                </a:rPr>
                <a:t>&lt;String&gt;</a:t>
              </a:r>
            </a:p>
          </p:txBody>
        </p:sp>
      </p:grpSp>
      <p:grpSp>
        <p:nvGrpSpPr>
          <p:cNvPr id="104451" name="Group 8"/>
          <p:cNvGrpSpPr>
            <a:grpSpLocks/>
          </p:cNvGrpSpPr>
          <p:nvPr/>
        </p:nvGrpSpPr>
        <p:grpSpPr bwMode="auto">
          <a:xfrm>
            <a:off x="3841461" y="3596417"/>
            <a:ext cx="1828800" cy="1295400"/>
            <a:chOff x="2064" y="1488"/>
            <a:chExt cx="1152" cy="816"/>
          </a:xfrm>
        </p:grpSpPr>
        <p:grpSp>
          <p:nvGrpSpPr>
            <p:cNvPr id="104462" name="Group 9"/>
            <p:cNvGrpSpPr>
              <a:grpSpLocks/>
            </p:cNvGrpSpPr>
            <p:nvPr/>
          </p:nvGrpSpPr>
          <p:grpSpPr bwMode="auto">
            <a:xfrm>
              <a:off x="2064" y="1824"/>
              <a:ext cx="1152" cy="480"/>
              <a:chOff x="2064" y="1824"/>
              <a:chExt cx="1152" cy="480"/>
            </a:xfrm>
          </p:grpSpPr>
          <p:sp>
            <p:nvSpPr>
              <p:cNvPr id="104464" name="Rectangle 10"/>
              <p:cNvSpPr>
                <a:spLocks noChangeArrowheads="1"/>
              </p:cNvSpPr>
              <p:nvPr/>
            </p:nvSpPr>
            <p:spPr bwMode="auto">
              <a:xfrm>
                <a:off x="2064" y="1824"/>
                <a:ext cx="1152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next =</a:t>
                </a:r>
              </a:p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data = "Tom"</a:t>
                </a:r>
              </a:p>
            </p:txBody>
          </p:sp>
          <p:sp>
            <p:nvSpPr>
              <p:cNvPr id="104465" name="Rectangle 11"/>
              <p:cNvSpPr>
                <a:spLocks noChangeArrowheads="1"/>
              </p:cNvSpPr>
              <p:nvPr/>
            </p:nvSpPr>
            <p:spPr bwMode="auto">
              <a:xfrm>
                <a:off x="2688" y="1944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4463" name="Rectangle 12"/>
            <p:cNvSpPr>
              <a:spLocks noChangeArrowheads="1"/>
            </p:cNvSpPr>
            <p:nvPr/>
          </p:nvSpPr>
          <p:spPr bwMode="auto">
            <a:xfrm>
              <a:off x="2064" y="1488"/>
              <a:ext cx="115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u="sng">
                  <a:solidFill>
                    <a:schemeClr val="accent2"/>
                  </a:solidFill>
                  <a:latin typeface="Courier New" pitchFamily="49" charset="0"/>
                </a:rPr>
                <a:t>Node&lt;String&gt;</a:t>
              </a:r>
            </a:p>
          </p:txBody>
        </p:sp>
      </p:grpSp>
      <p:grpSp>
        <p:nvGrpSpPr>
          <p:cNvPr id="104452" name="Group 13"/>
          <p:cNvGrpSpPr>
            <a:grpSpLocks/>
          </p:cNvGrpSpPr>
          <p:nvPr/>
        </p:nvGrpSpPr>
        <p:grpSpPr bwMode="auto">
          <a:xfrm>
            <a:off x="6279861" y="2529617"/>
            <a:ext cx="1828800" cy="1295400"/>
            <a:chOff x="2064" y="1488"/>
            <a:chExt cx="1152" cy="816"/>
          </a:xfrm>
        </p:grpSpPr>
        <p:grpSp>
          <p:nvGrpSpPr>
            <p:cNvPr id="104458" name="Group 14"/>
            <p:cNvGrpSpPr>
              <a:grpSpLocks/>
            </p:cNvGrpSpPr>
            <p:nvPr/>
          </p:nvGrpSpPr>
          <p:grpSpPr bwMode="auto">
            <a:xfrm>
              <a:off x="2064" y="1824"/>
              <a:ext cx="1152" cy="480"/>
              <a:chOff x="2064" y="1824"/>
              <a:chExt cx="1152" cy="480"/>
            </a:xfrm>
          </p:grpSpPr>
          <p:sp>
            <p:nvSpPr>
              <p:cNvPr id="104460" name="Rectangle 15"/>
              <p:cNvSpPr>
                <a:spLocks noChangeArrowheads="1"/>
              </p:cNvSpPr>
              <p:nvPr/>
            </p:nvSpPr>
            <p:spPr bwMode="auto">
              <a:xfrm>
                <a:off x="2064" y="1824"/>
                <a:ext cx="1152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next =</a:t>
                </a:r>
              </a:p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data = "Dick"</a:t>
                </a:r>
              </a:p>
            </p:txBody>
          </p:sp>
          <p:sp>
            <p:nvSpPr>
              <p:cNvPr id="104461" name="Rectangle 16"/>
              <p:cNvSpPr>
                <a:spLocks noChangeArrowheads="1"/>
              </p:cNvSpPr>
              <p:nvPr/>
            </p:nvSpPr>
            <p:spPr bwMode="auto">
              <a:xfrm>
                <a:off x="2688" y="1944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/>
                  <a:t>null</a:t>
                </a:r>
              </a:p>
            </p:txBody>
          </p:sp>
        </p:grpSp>
        <p:sp>
          <p:nvSpPr>
            <p:cNvPr id="104459" name="Rectangle 17"/>
            <p:cNvSpPr>
              <a:spLocks noChangeArrowheads="1"/>
            </p:cNvSpPr>
            <p:nvPr/>
          </p:nvSpPr>
          <p:spPr bwMode="auto">
            <a:xfrm>
              <a:off x="2064" y="1488"/>
              <a:ext cx="115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u="sng">
                  <a:solidFill>
                    <a:schemeClr val="accent2"/>
                  </a:solidFill>
                  <a:latin typeface="Courier New" pitchFamily="49" charset="0"/>
                </a:rPr>
                <a:t>Node&lt;String&gt;</a:t>
              </a:r>
            </a:p>
          </p:txBody>
        </p:sp>
      </p:grpSp>
      <p:cxnSp>
        <p:nvCxnSpPr>
          <p:cNvPr id="172050" name="AutoShape 18"/>
          <p:cNvCxnSpPr>
            <a:cxnSpLocks noChangeShapeType="1"/>
            <a:endCxn id="104463" idx="1"/>
          </p:cNvCxnSpPr>
          <p:nvPr/>
        </p:nvCxnSpPr>
        <p:spPr bwMode="auto">
          <a:xfrm>
            <a:off x="2963231" y="3506857"/>
            <a:ext cx="878230" cy="356260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04454" name="AutoShape 19"/>
          <p:cNvCxnSpPr>
            <a:cxnSpLocks noChangeShapeType="1"/>
            <a:stCxn id="104465" idx="3"/>
            <a:endCxn id="104459" idx="1"/>
          </p:cNvCxnSpPr>
          <p:nvPr/>
        </p:nvCxnSpPr>
        <p:spPr bwMode="auto">
          <a:xfrm flipV="1">
            <a:off x="5594061" y="2796317"/>
            <a:ext cx="685800" cy="1600200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72061" name="AutoShape 29"/>
          <p:cNvCxnSpPr>
            <a:cxnSpLocks noChangeShapeType="1"/>
          </p:cNvCxnSpPr>
          <p:nvPr/>
        </p:nvCxnSpPr>
        <p:spPr bwMode="auto">
          <a:xfrm flipV="1">
            <a:off x="2927061" y="2778264"/>
            <a:ext cx="3462741" cy="692480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</p:spPr>
      </p:cxnSp>
      <p:sp>
        <p:nvSpPr>
          <p:cNvPr id="172063" name="Rectangle 31"/>
          <p:cNvSpPr>
            <a:spLocks noChangeArrowheads="1"/>
          </p:cNvSpPr>
          <p:nvPr/>
        </p:nvSpPr>
        <p:spPr bwMode="auto">
          <a:xfrm>
            <a:off x="2241261" y="4488752"/>
            <a:ext cx="685800" cy="3268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1600" dirty="0">
              <a:latin typeface="Courier New" pitchFamily="49" charset="0"/>
            </a:endParaRPr>
          </a:p>
        </p:txBody>
      </p:sp>
      <p:cxnSp>
        <p:nvCxnSpPr>
          <p:cNvPr id="172064" name="AutoShape 32"/>
          <p:cNvCxnSpPr>
            <a:cxnSpLocks noChangeShapeType="1"/>
            <a:endCxn id="104463" idx="1"/>
          </p:cNvCxnSpPr>
          <p:nvPr/>
        </p:nvCxnSpPr>
        <p:spPr bwMode="auto">
          <a:xfrm flipV="1">
            <a:off x="2507961" y="3863117"/>
            <a:ext cx="1333500" cy="784761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</p:spPr>
      </p:cxnSp>
      <p:sp>
        <p:nvSpPr>
          <p:cNvPr id="23" name="TextBox 22"/>
          <p:cNvSpPr txBox="1"/>
          <p:nvPr/>
        </p:nvSpPr>
        <p:spPr>
          <a:xfrm>
            <a:off x="671576" y="1604124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6136" y="2037472"/>
            <a:ext cx="644525" cy="301645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1022061" y="2224817"/>
            <a:ext cx="667742" cy="304800"/>
          </a:xfrm>
          <a:prstGeom prst="straightConnector1">
            <a:avLst/>
          </a:prstGeom>
          <a:ln w="2540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690619" y="1389811"/>
            <a:ext cx="6224781" cy="92333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Details of action: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.removeFirst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starting from list content in Slide 16.</a:t>
            </a: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means: calling from INSIDE class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SingleLinkedList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744255" y="4088642"/>
            <a:ext cx="896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temp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715" y="1141864"/>
            <a:ext cx="8808685" cy="7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1346407" y="3586569"/>
            <a:ext cx="1007224" cy="246221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92D050"/>
                </a:solidFill>
                <a:latin typeface="Courier New" pitchFamily="49" charset="0"/>
              </a:rPr>
              <a:t>size =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60587" y="5638800"/>
            <a:ext cx="542969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Note: the data field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dirty="0"/>
              <a:t> is a reference variable.</a:t>
            </a:r>
          </a:p>
          <a:p>
            <a:r>
              <a:rPr lang="en-US" dirty="0"/>
              <a:t>It references a String object. </a:t>
            </a:r>
          </a:p>
          <a:p>
            <a:r>
              <a:rPr lang="en-US" dirty="0"/>
              <a:t>The references are not shown here.</a:t>
            </a:r>
          </a:p>
        </p:txBody>
      </p:sp>
    </p:spTree>
    <p:extLst>
      <p:ext uri="{BB962C8B-B14F-4D97-AF65-F5344CB8AC3E}">
        <p14:creationId xmlns:p14="http://schemas.microsoft.com/office/powerpoint/2010/main" val="373875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7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0"/>
                                        <p:tgtEl>
                                          <p:spTgt spid="17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7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63" grpId="0" animBg="1"/>
      <p:bldP spid="27" grpId="0"/>
      <p:bldP spid="3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915400" cy="990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/>
              <a:t>Implementing helper method</a:t>
            </a:r>
            <a:br>
              <a:rPr lang="en-US" b="1" dirty="0"/>
            </a:b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private </a:t>
            </a:r>
            <a:r>
              <a:rPr lang="en-US" dirty="0">
                <a:solidFill>
                  <a:schemeClr val="tx1"/>
                </a:solidFill>
                <a:latin typeface="Courier New" pitchFamily="49" charset="0"/>
              </a:rPr>
              <a:t>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removeFirst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US" dirty="0"/>
              <a:t>(cont.)</a:t>
            </a:r>
          </a:p>
        </p:txBody>
      </p:sp>
      <p:sp>
        <p:nvSpPr>
          <p:cNvPr id="173078" name="Rectangle 22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6854825" cy="5105400"/>
          </a:xfrm>
        </p:spPr>
        <p:txBody>
          <a:bodyPr>
            <a:normAutofit lnSpcReduction="10000"/>
          </a:bodyPr>
          <a:lstStyle/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E removeFirst () {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Node&lt;E&gt; temp = head;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if (head != null) {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  head = head.next;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if (temp != null) {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  size--;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  return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temp.data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} else {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  return null;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2837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6715" y="-1137"/>
            <a:ext cx="9144000" cy="11430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/>
              <a:t>Implementing</a:t>
            </a:r>
            <a:r>
              <a:rPr lang="en-US" dirty="0"/>
              <a:t> </a:t>
            </a:r>
            <a:r>
              <a:rPr lang="en-US" b="1" dirty="0"/>
              <a:t>helper method</a:t>
            </a:r>
            <a:br>
              <a:rPr lang="en-US" dirty="0"/>
            </a:br>
            <a:r>
              <a:rPr lang="en-US" sz="3100" dirty="0">
                <a:solidFill>
                  <a:srgbClr val="FF0000"/>
                </a:solidFill>
                <a:latin typeface="Courier New" pitchFamily="49" charset="0"/>
              </a:rPr>
              <a:t>private</a:t>
            </a:r>
            <a:r>
              <a:rPr lang="en-US" sz="3100" dirty="0">
                <a:solidFill>
                  <a:schemeClr val="tx1"/>
                </a:solidFill>
                <a:latin typeface="Courier New" pitchFamily="49" charset="0"/>
              </a:rPr>
              <a:t> E </a:t>
            </a:r>
            <a:r>
              <a:rPr lang="en-US" sz="3600" dirty="0" err="1">
                <a:latin typeface="Courier New" pitchFamily="49" charset="0"/>
              </a:rPr>
              <a:t>removeAfter</a:t>
            </a:r>
            <a:r>
              <a:rPr lang="en-US" sz="3600" dirty="0">
                <a:latin typeface="Courier New" pitchFamily="49" charset="0"/>
              </a:rPr>
              <a:t>(Node&lt;E&gt; node)</a:t>
            </a:r>
          </a:p>
        </p:txBody>
      </p:sp>
      <p:grpSp>
        <p:nvGrpSpPr>
          <p:cNvPr id="102402" name="Group 3"/>
          <p:cNvGrpSpPr>
            <a:grpSpLocks/>
          </p:cNvGrpSpPr>
          <p:nvPr/>
        </p:nvGrpSpPr>
        <p:grpSpPr bwMode="auto">
          <a:xfrm>
            <a:off x="788156" y="2492404"/>
            <a:ext cx="1905000" cy="1259816"/>
            <a:chOff x="432" y="1488"/>
            <a:chExt cx="1152" cy="672"/>
          </a:xfrm>
        </p:grpSpPr>
        <p:grpSp>
          <p:nvGrpSpPr>
            <p:cNvPr id="102426" name="Group 4"/>
            <p:cNvGrpSpPr>
              <a:grpSpLocks/>
            </p:cNvGrpSpPr>
            <p:nvPr/>
          </p:nvGrpSpPr>
          <p:grpSpPr bwMode="auto">
            <a:xfrm>
              <a:off x="432" y="1824"/>
              <a:ext cx="1152" cy="336"/>
              <a:chOff x="432" y="1824"/>
              <a:chExt cx="1152" cy="336"/>
            </a:xfrm>
          </p:grpSpPr>
          <p:sp>
            <p:nvSpPr>
              <p:cNvPr id="102428" name="Rectangle 5"/>
              <p:cNvSpPr>
                <a:spLocks noChangeArrowheads="1"/>
              </p:cNvSpPr>
              <p:nvPr/>
            </p:nvSpPr>
            <p:spPr bwMode="auto">
              <a:xfrm>
                <a:off x="432" y="1824"/>
                <a:ext cx="1152" cy="336"/>
              </a:xfrm>
              <a:prstGeom prst="rect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head =       </a:t>
                </a:r>
              </a:p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size = 3</a:t>
                </a:r>
              </a:p>
            </p:txBody>
          </p:sp>
          <p:sp>
            <p:nvSpPr>
              <p:cNvPr id="102429" name="Rectangle 6"/>
              <p:cNvSpPr>
                <a:spLocks noChangeArrowheads="1"/>
              </p:cNvSpPr>
              <p:nvPr/>
            </p:nvSpPr>
            <p:spPr bwMode="auto">
              <a:xfrm>
                <a:off x="1058" y="1874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2427" name="Rectangle 7"/>
            <p:cNvSpPr>
              <a:spLocks noChangeArrowheads="1"/>
            </p:cNvSpPr>
            <p:nvPr/>
          </p:nvSpPr>
          <p:spPr bwMode="auto">
            <a:xfrm>
              <a:off x="432" y="1488"/>
              <a:ext cx="115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u="sng" dirty="0" err="1">
                  <a:solidFill>
                    <a:schemeClr val="accent2"/>
                  </a:solidFill>
                  <a:latin typeface="Courier New" pitchFamily="49" charset="0"/>
                </a:rPr>
                <a:t>SingleLinkedList</a:t>
              </a:r>
              <a:endParaRPr lang="en-US" sz="1600" u="sng" dirty="0">
                <a:solidFill>
                  <a:schemeClr val="accent2"/>
                </a:solidFill>
                <a:latin typeface="Courier New" pitchFamily="49" charset="0"/>
              </a:endParaRPr>
            </a:p>
            <a:p>
              <a:pPr algn="ctr"/>
              <a:r>
                <a:rPr lang="en-US" sz="1600" u="sng" dirty="0">
                  <a:solidFill>
                    <a:schemeClr val="accent2"/>
                  </a:solidFill>
                  <a:latin typeface="Courier New" pitchFamily="49" charset="0"/>
                </a:rPr>
                <a:t>&lt;String&gt;</a:t>
              </a:r>
            </a:p>
          </p:txBody>
        </p:sp>
      </p:grpSp>
      <p:grpSp>
        <p:nvGrpSpPr>
          <p:cNvPr id="102403" name="Group 8"/>
          <p:cNvGrpSpPr>
            <a:grpSpLocks/>
          </p:cNvGrpSpPr>
          <p:nvPr/>
        </p:nvGrpSpPr>
        <p:grpSpPr bwMode="auto">
          <a:xfrm>
            <a:off x="3378956" y="2492404"/>
            <a:ext cx="1828800" cy="1295400"/>
            <a:chOff x="2064" y="1488"/>
            <a:chExt cx="1152" cy="816"/>
          </a:xfrm>
        </p:grpSpPr>
        <p:grpSp>
          <p:nvGrpSpPr>
            <p:cNvPr id="102422" name="Group 9"/>
            <p:cNvGrpSpPr>
              <a:grpSpLocks/>
            </p:cNvGrpSpPr>
            <p:nvPr/>
          </p:nvGrpSpPr>
          <p:grpSpPr bwMode="auto">
            <a:xfrm>
              <a:off x="2064" y="1824"/>
              <a:ext cx="1152" cy="480"/>
              <a:chOff x="2064" y="1824"/>
              <a:chExt cx="1152" cy="480"/>
            </a:xfrm>
          </p:grpSpPr>
          <p:sp>
            <p:nvSpPr>
              <p:cNvPr id="102424" name="Rectangle 10"/>
              <p:cNvSpPr>
                <a:spLocks noChangeArrowheads="1"/>
              </p:cNvSpPr>
              <p:nvPr/>
            </p:nvSpPr>
            <p:spPr bwMode="auto">
              <a:xfrm>
                <a:off x="2064" y="1824"/>
                <a:ext cx="1152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next =</a:t>
                </a:r>
              </a:p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data = "Tom"</a:t>
                </a:r>
              </a:p>
            </p:txBody>
          </p:sp>
          <p:sp>
            <p:nvSpPr>
              <p:cNvPr id="102425" name="Rectangle 11"/>
              <p:cNvSpPr>
                <a:spLocks noChangeArrowheads="1"/>
              </p:cNvSpPr>
              <p:nvPr/>
            </p:nvSpPr>
            <p:spPr bwMode="auto">
              <a:xfrm>
                <a:off x="2688" y="1944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2423" name="Rectangle 12"/>
            <p:cNvSpPr>
              <a:spLocks noChangeArrowheads="1"/>
            </p:cNvSpPr>
            <p:nvPr/>
          </p:nvSpPr>
          <p:spPr bwMode="auto">
            <a:xfrm>
              <a:off x="2064" y="1488"/>
              <a:ext cx="115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u="sng">
                  <a:solidFill>
                    <a:schemeClr val="accent2"/>
                  </a:solidFill>
                  <a:latin typeface="Courier New" pitchFamily="49" charset="0"/>
                </a:rPr>
                <a:t>Node&lt;String&gt;</a:t>
              </a:r>
            </a:p>
          </p:txBody>
        </p:sp>
      </p:grpSp>
      <p:grpSp>
        <p:nvGrpSpPr>
          <p:cNvPr id="102404" name="Group 13"/>
          <p:cNvGrpSpPr>
            <a:grpSpLocks/>
          </p:cNvGrpSpPr>
          <p:nvPr/>
        </p:nvGrpSpPr>
        <p:grpSpPr bwMode="auto">
          <a:xfrm>
            <a:off x="5817356" y="2492404"/>
            <a:ext cx="1828800" cy="1295400"/>
            <a:chOff x="2064" y="1488"/>
            <a:chExt cx="1152" cy="816"/>
          </a:xfrm>
        </p:grpSpPr>
        <p:grpSp>
          <p:nvGrpSpPr>
            <p:cNvPr id="102418" name="Group 14"/>
            <p:cNvGrpSpPr>
              <a:grpSpLocks/>
            </p:cNvGrpSpPr>
            <p:nvPr/>
          </p:nvGrpSpPr>
          <p:grpSpPr bwMode="auto">
            <a:xfrm>
              <a:off x="2064" y="1824"/>
              <a:ext cx="1152" cy="480"/>
              <a:chOff x="2064" y="1824"/>
              <a:chExt cx="1152" cy="480"/>
            </a:xfrm>
          </p:grpSpPr>
          <p:sp>
            <p:nvSpPr>
              <p:cNvPr id="102420" name="Rectangle 15"/>
              <p:cNvSpPr>
                <a:spLocks noChangeArrowheads="1"/>
              </p:cNvSpPr>
              <p:nvPr/>
            </p:nvSpPr>
            <p:spPr bwMode="auto">
              <a:xfrm>
                <a:off x="2064" y="1824"/>
                <a:ext cx="1152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next =</a:t>
                </a:r>
              </a:p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data = "Dick"</a:t>
                </a:r>
              </a:p>
            </p:txBody>
          </p:sp>
          <p:sp>
            <p:nvSpPr>
              <p:cNvPr id="102421" name="Rectangle 16"/>
              <p:cNvSpPr>
                <a:spLocks noChangeArrowheads="1"/>
              </p:cNvSpPr>
              <p:nvPr/>
            </p:nvSpPr>
            <p:spPr bwMode="auto">
              <a:xfrm>
                <a:off x="2688" y="1944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2419" name="Rectangle 17"/>
            <p:cNvSpPr>
              <a:spLocks noChangeArrowheads="1"/>
            </p:cNvSpPr>
            <p:nvPr/>
          </p:nvSpPr>
          <p:spPr bwMode="auto">
            <a:xfrm>
              <a:off x="2064" y="1488"/>
              <a:ext cx="115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u="sng">
                  <a:solidFill>
                    <a:schemeClr val="accent2"/>
                  </a:solidFill>
                  <a:latin typeface="Courier New" pitchFamily="49" charset="0"/>
                </a:rPr>
                <a:t>Node&lt;String&gt;</a:t>
              </a:r>
            </a:p>
          </p:txBody>
        </p:sp>
      </p:grpSp>
      <p:cxnSp>
        <p:nvCxnSpPr>
          <p:cNvPr id="102405" name="AutoShape 18"/>
          <p:cNvCxnSpPr>
            <a:cxnSpLocks noChangeShapeType="1"/>
          </p:cNvCxnSpPr>
          <p:nvPr/>
        </p:nvCxnSpPr>
        <p:spPr bwMode="auto">
          <a:xfrm rot="5400000" flipH="1" flipV="1">
            <a:off x="2464556" y="2390804"/>
            <a:ext cx="609600" cy="1219200"/>
          </a:xfrm>
          <a:prstGeom prst="curvedConnector4">
            <a:avLst>
              <a:gd name="adj1" fmla="val 1560"/>
              <a:gd name="adj2" fmla="val 6562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76147" name="AutoShape 19"/>
          <p:cNvCxnSpPr>
            <a:cxnSpLocks noChangeShapeType="1"/>
          </p:cNvCxnSpPr>
          <p:nvPr/>
        </p:nvCxnSpPr>
        <p:spPr bwMode="auto">
          <a:xfrm rot="5400000" flipH="1" flipV="1">
            <a:off x="4979156" y="2454304"/>
            <a:ext cx="609600" cy="1066800"/>
          </a:xfrm>
          <a:prstGeom prst="curvedConnector4">
            <a:avLst>
              <a:gd name="adj1" fmla="val 1560"/>
              <a:gd name="adj2" fmla="val 6785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grpSp>
        <p:nvGrpSpPr>
          <p:cNvPr id="102407" name="Group 20"/>
          <p:cNvGrpSpPr>
            <a:grpSpLocks/>
          </p:cNvGrpSpPr>
          <p:nvPr/>
        </p:nvGrpSpPr>
        <p:grpSpPr bwMode="auto">
          <a:xfrm>
            <a:off x="6731756" y="4473604"/>
            <a:ext cx="1828800" cy="1295400"/>
            <a:chOff x="2064" y="1488"/>
            <a:chExt cx="1152" cy="816"/>
          </a:xfrm>
        </p:grpSpPr>
        <p:grpSp>
          <p:nvGrpSpPr>
            <p:cNvPr id="102414" name="Group 21"/>
            <p:cNvGrpSpPr>
              <a:grpSpLocks/>
            </p:cNvGrpSpPr>
            <p:nvPr/>
          </p:nvGrpSpPr>
          <p:grpSpPr bwMode="auto">
            <a:xfrm>
              <a:off x="2064" y="1824"/>
              <a:ext cx="1152" cy="480"/>
              <a:chOff x="2064" y="1824"/>
              <a:chExt cx="1152" cy="480"/>
            </a:xfrm>
          </p:grpSpPr>
          <p:sp>
            <p:nvSpPr>
              <p:cNvPr id="102416" name="Rectangle 22"/>
              <p:cNvSpPr>
                <a:spLocks noChangeArrowheads="1"/>
              </p:cNvSpPr>
              <p:nvPr/>
            </p:nvSpPr>
            <p:spPr bwMode="auto">
              <a:xfrm>
                <a:off x="2064" y="1824"/>
                <a:ext cx="1152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next =</a:t>
                </a:r>
              </a:p>
              <a:p>
                <a:r>
                  <a:rPr lang="en-US" sz="1600" dirty="0">
                    <a:solidFill>
                      <a:srgbClr val="92D050"/>
                    </a:solidFill>
                    <a:latin typeface="Courier New" pitchFamily="49" charset="0"/>
                  </a:rPr>
                  <a:t>data = "Ann"</a:t>
                </a:r>
              </a:p>
            </p:txBody>
          </p:sp>
          <p:sp>
            <p:nvSpPr>
              <p:cNvPr id="102417" name="Rectangle 23"/>
              <p:cNvSpPr>
                <a:spLocks noChangeArrowheads="1"/>
              </p:cNvSpPr>
              <p:nvPr/>
            </p:nvSpPr>
            <p:spPr bwMode="auto">
              <a:xfrm>
                <a:off x="2688" y="1944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2415" name="Rectangle 24"/>
            <p:cNvSpPr>
              <a:spLocks noChangeArrowheads="1"/>
            </p:cNvSpPr>
            <p:nvPr/>
          </p:nvSpPr>
          <p:spPr bwMode="auto">
            <a:xfrm>
              <a:off x="2064" y="1488"/>
              <a:ext cx="115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u="sng">
                  <a:solidFill>
                    <a:schemeClr val="accent2"/>
                  </a:solidFill>
                  <a:latin typeface="Courier New" pitchFamily="49" charset="0"/>
                </a:rPr>
                <a:t>Node&lt;String&gt;</a:t>
              </a:r>
            </a:p>
          </p:txBody>
        </p:sp>
      </p:grpSp>
      <p:cxnSp>
        <p:nvCxnSpPr>
          <p:cNvPr id="102408" name="AutoShape 28"/>
          <p:cNvCxnSpPr>
            <a:cxnSpLocks noChangeShapeType="1"/>
            <a:stCxn id="102421" idx="3"/>
            <a:endCxn id="102415" idx="1"/>
          </p:cNvCxnSpPr>
          <p:nvPr/>
        </p:nvCxnSpPr>
        <p:spPr bwMode="auto">
          <a:xfrm flipH="1">
            <a:off x="6731756" y="3292504"/>
            <a:ext cx="838200" cy="1447800"/>
          </a:xfrm>
          <a:prstGeom prst="curvedConnector5">
            <a:avLst>
              <a:gd name="adj1" fmla="val -27273"/>
              <a:gd name="adj2" fmla="val 54602"/>
              <a:gd name="adj3" fmla="val 12727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176157" name="Rectangle 29"/>
          <p:cNvSpPr>
            <a:spLocks noChangeArrowheads="1"/>
          </p:cNvSpPr>
          <p:nvPr/>
        </p:nvSpPr>
        <p:spPr bwMode="auto">
          <a:xfrm>
            <a:off x="4190309" y="1638300"/>
            <a:ext cx="636446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1600" dirty="0">
              <a:ln w="28575">
                <a:solidFill>
                  <a:schemeClr val="tx1"/>
                </a:solidFill>
              </a:ln>
              <a:latin typeface="Courier New" pitchFamily="49" charset="0"/>
            </a:endParaRPr>
          </a:p>
        </p:txBody>
      </p:sp>
      <p:cxnSp>
        <p:nvCxnSpPr>
          <p:cNvPr id="176158" name="AutoShape 30"/>
          <p:cNvCxnSpPr>
            <a:cxnSpLocks noChangeShapeType="1"/>
            <a:endCxn id="102419" idx="0"/>
          </p:cNvCxnSpPr>
          <p:nvPr/>
        </p:nvCxnSpPr>
        <p:spPr bwMode="auto">
          <a:xfrm>
            <a:off x="4521956" y="1828800"/>
            <a:ext cx="2209800" cy="663604"/>
          </a:xfrm>
          <a:prstGeom prst="curvedConnector2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</p:spPr>
      </p:cxnSp>
      <p:cxnSp>
        <p:nvCxnSpPr>
          <p:cNvPr id="176159" name="AutoShape 31"/>
          <p:cNvCxnSpPr>
            <a:cxnSpLocks noChangeShapeType="1"/>
            <a:stCxn id="102425" idx="3"/>
            <a:endCxn id="102415" idx="1"/>
          </p:cNvCxnSpPr>
          <p:nvPr/>
        </p:nvCxnSpPr>
        <p:spPr bwMode="auto">
          <a:xfrm>
            <a:off x="5131556" y="3292504"/>
            <a:ext cx="1600200" cy="1447800"/>
          </a:xfrm>
          <a:prstGeom prst="curvedConnector3">
            <a:avLst>
              <a:gd name="adj1" fmla="val 36708"/>
            </a:avLst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</p:spPr>
      </p:cxnSp>
      <p:sp>
        <p:nvSpPr>
          <p:cNvPr id="3" name="TextBox 2"/>
          <p:cNvSpPr txBox="1"/>
          <p:nvPr/>
        </p:nvSpPr>
        <p:spPr>
          <a:xfrm>
            <a:off x="2066543" y="1672401"/>
            <a:ext cx="8572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node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9071" y="1566911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0581" y="1964798"/>
            <a:ext cx="644525" cy="30164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559556" y="2187604"/>
            <a:ext cx="667742" cy="304800"/>
          </a:xfrm>
          <a:prstGeom prst="straightConnector1">
            <a:avLst/>
          </a:prstGeom>
          <a:ln w="2540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17247" y="1517403"/>
            <a:ext cx="8962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temp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87773" y="1990694"/>
            <a:ext cx="644525" cy="30164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2921756" y="2136804"/>
            <a:ext cx="667742" cy="304800"/>
          </a:xfrm>
          <a:prstGeom prst="straightConnector1">
            <a:avLst/>
          </a:prstGeom>
          <a:ln w="2540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43236" y="4816504"/>
            <a:ext cx="6224781" cy="92333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Details of action: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.removeAfter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(node);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starting from list content in this slide.</a:t>
            </a: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means: calling from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class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SingleLinkedList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6715" y="1141864"/>
            <a:ext cx="8808685" cy="7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848391" y="3458289"/>
            <a:ext cx="1007224" cy="246221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92D050"/>
                </a:solidFill>
                <a:latin typeface="Courier New" pitchFamily="49" charset="0"/>
              </a:rPr>
              <a:t>size = 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5211" y="5862693"/>
            <a:ext cx="542969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Note: the data field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dirty="0"/>
              <a:t> is a reference variable.</a:t>
            </a:r>
          </a:p>
          <a:p>
            <a:r>
              <a:rPr lang="en-US" dirty="0"/>
              <a:t>It references a String object. </a:t>
            </a:r>
          </a:p>
          <a:p>
            <a:r>
              <a:rPr lang="en-US" dirty="0"/>
              <a:t>The references are not shown here.</a:t>
            </a:r>
          </a:p>
        </p:txBody>
      </p:sp>
    </p:spTree>
    <p:extLst>
      <p:ext uri="{BB962C8B-B14F-4D97-AF65-F5344CB8AC3E}">
        <p14:creationId xmlns:p14="http://schemas.microsoft.com/office/powerpoint/2010/main" val="2441323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7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0"/>
                                        <p:tgtEl>
                                          <p:spTgt spid="176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7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57" grpId="0" animBg="1"/>
      <p:bldP spid="34" grpId="0"/>
      <p:bldP spid="34" grpId="1"/>
      <p:bldP spid="3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/>
              <a:t>Implementing helper method </a:t>
            </a:r>
            <a:r>
              <a:rPr lang="en-US" dirty="0"/>
              <a:t>(cont.)</a:t>
            </a:r>
            <a:br>
              <a:rPr lang="en-US" b="1" dirty="0"/>
            </a:br>
            <a:r>
              <a:rPr lang="en-US" sz="3100" dirty="0">
                <a:solidFill>
                  <a:srgbClr val="FF0000"/>
                </a:solidFill>
                <a:latin typeface="Courier New" pitchFamily="49" charset="0"/>
              </a:rPr>
              <a:t>private </a:t>
            </a:r>
            <a:r>
              <a:rPr lang="en-US" sz="3100" dirty="0">
                <a:solidFill>
                  <a:schemeClr val="tx1"/>
                </a:solidFill>
                <a:latin typeface="Courier New" pitchFamily="49" charset="0"/>
              </a:rPr>
              <a:t>E </a:t>
            </a:r>
            <a:r>
              <a:rPr lang="en-US" sz="3100" dirty="0" err="1">
                <a:latin typeface="Courier New" pitchFamily="49" charset="0"/>
              </a:rPr>
              <a:t>removeAfter</a:t>
            </a:r>
            <a:r>
              <a:rPr lang="en-US" sz="3100" dirty="0">
                <a:latin typeface="Courier New" pitchFamily="49" charset="0"/>
              </a:rPr>
              <a:t>(Node&lt;E&gt; node)</a:t>
            </a:r>
            <a:endParaRPr lang="en-US" b="1" dirty="0">
              <a:latin typeface="+mn-lt"/>
            </a:endParaRPr>
          </a:p>
        </p:txBody>
      </p:sp>
      <p:sp>
        <p:nvSpPr>
          <p:cNvPr id="177181" name="Rectangle 29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/>
          </a:bodyPr>
          <a:lstStyle/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E removeAfter (Node&lt;E&gt; node) {</a:t>
            </a: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Node&lt;E&gt; temp = node.next;</a:t>
            </a: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if (temp != null) {</a:t>
            </a: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  node.next = temp.next;</a:t>
            </a: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  size--;</a:t>
            </a: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  return temp.data;</a:t>
            </a: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} else {</a:t>
            </a: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  return null;</a:t>
            </a: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20040" indent="-32004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endParaRPr lang="en-US" b="1" dirty="0">
              <a:latin typeface="Courier New" pitchFamily="49" charset="0"/>
            </a:endParaRPr>
          </a:p>
          <a:p>
            <a:pPr marL="320040" indent="-32004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endParaRPr lang="en-US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2391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990600"/>
          </a:xfrm>
        </p:spPr>
        <p:txBody>
          <a:bodyPr/>
          <a:lstStyle/>
          <a:p>
            <a:r>
              <a:rPr lang="en-US" b="1" dirty="0"/>
              <a:t>Implementing helper method</a:t>
            </a:r>
            <a:br>
              <a:rPr lang="en-US" b="1" dirty="0"/>
            </a:br>
            <a:r>
              <a:rPr lang="en-US" sz="3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Node&lt;E&gt;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getNode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index)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06952" y="1676400"/>
            <a:ext cx="8766175" cy="4495800"/>
          </a:xfrm>
        </p:spPr>
        <p:txBody>
          <a:bodyPr>
            <a:normAutofit/>
          </a:bodyPr>
          <a:lstStyle/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Node&lt;E&gt; getNode(int index) {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Node&lt;E&gt; node = head;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for (int i=0; i&lt;index &amp;&amp;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node != null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 i++) {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  node = node.next;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return node;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1598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/>
              <a:t>Completing the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SingleLinkedList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&lt;E&gt;</a:t>
            </a:r>
            <a:r>
              <a:rPr lang="en-US" dirty="0"/>
              <a:t> </a:t>
            </a:r>
            <a:r>
              <a:rPr lang="en-US" b="1" dirty="0"/>
              <a:t>Class</a:t>
            </a:r>
          </a:p>
        </p:txBody>
      </p:sp>
      <p:pic>
        <p:nvPicPr>
          <p:cNvPr id="109570" name="Picture 2" descr="C:\Documents and Settings\Administrator\My Documents\Koffman\PPTs\Koffman_Digital Request 150 DPI JPEG\Ch02\Table_2.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814899"/>
            <a:ext cx="851535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C8A56B-D0CB-77B8-D349-E1965AA5A9B2}"/>
              </a:ext>
            </a:extLst>
          </p:cNvPr>
          <p:cNvSpPr txBox="1"/>
          <p:nvPr/>
        </p:nvSpPr>
        <p:spPr>
          <a:xfrm>
            <a:off x="542636" y="4495800"/>
            <a:ext cx="6399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086650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sz="4000" b="1" dirty="0"/>
              <a:t>Implementing </a:t>
            </a:r>
            <a:br>
              <a:rPr lang="en-US" sz="4000" b="1" dirty="0"/>
            </a:br>
            <a:r>
              <a:rPr lang="en-US" sz="40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4000" dirty="0">
                <a:latin typeface="Courier New" pitchFamily="49" charset="0"/>
                <a:cs typeface="Courier New" pitchFamily="49" charset="0"/>
              </a:rPr>
              <a:t> E get(</a:t>
            </a:r>
            <a:r>
              <a:rPr lang="en-US" sz="4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4000" dirty="0">
                <a:latin typeface="Courier New" pitchFamily="49" charset="0"/>
                <a:cs typeface="Courier New" pitchFamily="49" charset="0"/>
              </a:rPr>
              <a:t> index)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676400"/>
            <a:ext cx="8766175" cy="4495800"/>
          </a:xfrm>
        </p:spPr>
        <p:txBody>
          <a:bodyPr>
            <a:normAutofit/>
          </a:bodyPr>
          <a:lstStyle/>
          <a:p>
            <a:pPr marL="0" indent="0" fontAlgn="auto">
              <a:spcAft>
                <a:spcPts val="0"/>
              </a:spcAft>
              <a:buFont typeface="Wingdings"/>
              <a:buNone/>
              <a:tabLst>
                <a:tab pos="115888" algn="l"/>
              </a:tabLst>
              <a:defRPr/>
            </a:pP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E get (int index) {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tabLst>
                <a:tab pos="115888" algn="l"/>
              </a:tabLst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if (index &lt; 0 || index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&gt;=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size) {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tabLst>
                <a:tab pos="115888" algn="l"/>
              </a:tabLst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throw 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tabLst>
                <a:tab pos="115888" algn="l"/>
              </a:tabLst>
              <a:defRPr/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   new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IndexOutOfBoundsException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Integer.toString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(index));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tabLst>
                <a:tab pos="115888" algn="l"/>
              </a:tabLst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tabLst>
                <a:tab pos="115888" algn="l"/>
              </a:tabLst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Node&lt;E&gt; node = getNode(index);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tabLst>
                <a:tab pos="115888" algn="l"/>
              </a:tabLst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return node.data;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tabLst>
                <a:tab pos="115888" algn="l"/>
              </a:tabLst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458994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/>
          <p:cNvSpPr>
            <a:spLocks noGrp="1" noChangeArrowheads="1"/>
          </p:cNvSpPr>
          <p:nvPr>
            <p:ph type="title"/>
          </p:nvPr>
        </p:nvSpPr>
        <p:spPr>
          <a:xfrm>
            <a:off x="306387" y="152400"/>
            <a:ext cx="8766175" cy="990600"/>
          </a:xfrm>
        </p:spPr>
        <p:txBody>
          <a:bodyPr/>
          <a:lstStyle/>
          <a:p>
            <a:r>
              <a:rPr lang="en-US" sz="4000" b="1" dirty="0"/>
              <a:t>Implementing</a:t>
            </a:r>
            <a:r>
              <a:rPr lang="en-US" sz="3600" b="1" dirty="0"/>
              <a:t> </a:t>
            </a:r>
            <a:br>
              <a:rPr lang="en-US" sz="2800" b="1" dirty="0"/>
            </a:br>
            <a:r>
              <a:rPr lang="en-US" sz="3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E set(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index, E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newValue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/>
          </a:bodyPr>
          <a:lstStyle/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E set (int index, E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newValue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if (index &lt; 0 || index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&gt;=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size) {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throw new                                                     	IndexOutOfBoundsException(Integer.toString(index));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Node&lt;E&gt; node = getNode(index);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E result = node.data;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node.data =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newValue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return result;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0167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613775" cy="990600"/>
          </a:xfrm>
        </p:spPr>
        <p:txBody>
          <a:bodyPr/>
          <a:lstStyle/>
          <a:p>
            <a:r>
              <a:rPr lang="en-US" sz="4000" b="1" dirty="0"/>
              <a:t>Implementing</a:t>
            </a:r>
            <a:br>
              <a:rPr lang="en-US" sz="2800" b="1" dirty="0"/>
            </a:br>
            <a:r>
              <a:rPr lang="en-US" sz="3200" b="1" dirty="0"/>
              <a:t> </a:t>
            </a:r>
            <a:r>
              <a:rPr lang="en-US" sz="32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void add(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 index, E item)</a:t>
            </a:r>
          </a:p>
        </p:txBody>
      </p:sp>
      <p:sp>
        <p:nvSpPr>
          <p:cNvPr id="11264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void add 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index, E item) {</a:t>
            </a:r>
          </a:p>
          <a:p>
            <a:pPr marL="0" indent="0"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if (index &lt; 0 || index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size) {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//not index &gt;= size</a:t>
            </a:r>
            <a:endParaRPr lang="en-US" sz="20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throw new                                   </a:t>
            </a:r>
          </a:p>
          <a:p>
            <a:pPr marL="0" indent="0">
              <a:buFont typeface="Wingdings" pitchFamily="2" charset="2"/>
              <a:buNone/>
            </a:pPr>
            <a:r>
              <a:rPr lang="en-US" sz="18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IndexOutOfBoundsException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Integer.toString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(index));</a:t>
            </a:r>
          </a:p>
          <a:p>
            <a:pPr marL="0" indent="0"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}</a:t>
            </a:r>
          </a:p>
          <a:p>
            <a:pPr marL="0" indent="0"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if (index == 0) {</a:t>
            </a:r>
          </a:p>
          <a:p>
            <a:pPr marL="0" indent="0"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addFirst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(item); </a:t>
            </a:r>
          </a:p>
          <a:p>
            <a:pPr marL="0" indent="0"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} else {</a:t>
            </a:r>
          </a:p>
          <a:p>
            <a:pPr marL="0" indent="0"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Node&lt;E&gt; node =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getNode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(index-1);</a:t>
            </a:r>
          </a:p>
          <a:p>
            <a:pPr marL="0" indent="0"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addAfter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(node, item);</a:t>
            </a:r>
          </a:p>
          <a:p>
            <a:pPr marL="0" indent="0"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}</a:t>
            </a:r>
          </a:p>
          <a:p>
            <a:pPr marL="0" indent="0">
              <a:buFont typeface="Wingdings" pitchFamily="2" charset="2"/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908299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11430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/>
              <a:t>Implementing </a:t>
            </a:r>
            <a:br>
              <a:rPr lang="en-US" b="1" dirty="0"/>
            </a:br>
            <a:r>
              <a:rPr lang="en-US" sz="4000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4000" dirty="0">
                <a:latin typeface="Courier New" pitchFamily="49" charset="0"/>
                <a:cs typeface="Courier New" pitchFamily="49" charset="0"/>
              </a:rPr>
              <a:t> boolean add(E item)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600200"/>
            <a:ext cx="8385175" cy="4495800"/>
          </a:xfrm>
        </p:spPr>
        <p:txBody>
          <a:bodyPr>
            <a:normAutofit lnSpcReduction="10000"/>
          </a:bodyPr>
          <a:lstStyle/>
          <a:p>
            <a:pPr marL="0" indent="0"/>
            <a:r>
              <a:rPr lang="en-US" sz="1600" dirty="0">
                <a:cs typeface="Courier New" pitchFamily="49" charset="0"/>
              </a:rPr>
              <a:t> </a:t>
            </a:r>
            <a:r>
              <a:rPr lang="en-US" dirty="0">
                <a:cs typeface="Courier New" pitchFamily="49" charset="0"/>
              </a:rPr>
              <a:t>To add an item to the end of the list</a:t>
            </a:r>
          </a:p>
          <a:p>
            <a:pPr marL="400050" lvl="1" indent="0">
              <a:buFont typeface="Wingdings 2" pitchFamily="18" charset="2"/>
              <a:buNone/>
            </a:pP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add (E item) {</a:t>
            </a:r>
          </a:p>
          <a:p>
            <a:pPr marL="400050" lvl="1" indent="0">
              <a:buFont typeface="Wingdings 2" pitchFamily="18" charset="2"/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add(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size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item);</a:t>
            </a:r>
          </a:p>
          <a:p>
            <a:pPr marL="400050" lvl="1" indent="0">
              <a:buFont typeface="Wingdings 2" pitchFamily="18" charset="2"/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return true;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Note: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The add calls the public method: add(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index, E item), which allows index to be size, meaning appending to the end of the list.</a:t>
            </a:r>
          </a:p>
          <a:p>
            <a:pPr marL="0" inden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9216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itle 1"/>
          <p:cNvSpPr>
            <a:spLocks noGrp="1"/>
          </p:cNvSpPr>
          <p:nvPr>
            <p:ph type="title"/>
          </p:nvPr>
        </p:nvSpPr>
        <p:spPr>
          <a:xfrm>
            <a:off x="134936" y="228600"/>
            <a:ext cx="8856663" cy="990600"/>
          </a:xfrm>
        </p:spPr>
        <p:txBody>
          <a:bodyPr/>
          <a:lstStyle/>
          <a:p>
            <a:r>
              <a:rPr lang="en-US" sz="4000" b="1" dirty="0"/>
              <a:t>Traversing a Generic Single-Linked List</a:t>
            </a:r>
          </a:p>
        </p:txBody>
      </p:sp>
      <p:grpSp>
        <p:nvGrpSpPr>
          <p:cNvPr id="106498" name="Group 3"/>
          <p:cNvGrpSpPr>
            <a:grpSpLocks/>
          </p:cNvGrpSpPr>
          <p:nvPr/>
        </p:nvGrpSpPr>
        <p:grpSpPr bwMode="auto">
          <a:xfrm>
            <a:off x="685800" y="2362202"/>
            <a:ext cx="1828800" cy="1295401"/>
            <a:chOff x="432" y="1488"/>
            <a:chExt cx="1152" cy="816"/>
          </a:xfrm>
        </p:grpSpPr>
        <p:grpSp>
          <p:nvGrpSpPr>
            <p:cNvPr id="106524" name="Group 4"/>
            <p:cNvGrpSpPr>
              <a:grpSpLocks/>
            </p:cNvGrpSpPr>
            <p:nvPr/>
          </p:nvGrpSpPr>
          <p:grpSpPr bwMode="auto">
            <a:xfrm>
              <a:off x="433" y="1843"/>
              <a:ext cx="1151" cy="461"/>
              <a:chOff x="433" y="1843"/>
              <a:chExt cx="1151" cy="461"/>
            </a:xfrm>
          </p:grpSpPr>
          <p:sp>
            <p:nvSpPr>
              <p:cNvPr id="106526" name="Rectangle 5"/>
              <p:cNvSpPr>
                <a:spLocks noChangeArrowheads="1"/>
              </p:cNvSpPr>
              <p:nvPr/>
            </p:nvSpPr>
            <p:spPr bwMode="auto">
              <a:xfrm>
                <a:off x="433" y="1843"/>
                <a:ext cx="1151" cy="461"/>
              </a:xfrm>
              <a:prstGeom prst="rect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600" dirty="0">
                    <a:solidFill>
                      <a:srgbClr val="00B050"/>
                    </a:solidFill>
                    <a:latin typeface="Courier New" pitchFamily="49" charset="0"/>
                  </a:rPr>
                  <a:t>head = </a:t>
                </a:r>
              </a:p>
              <a:p>
                <a:pPr algn="ctr"/>
                <a:r>
                  <a:rPr lang="en-US" sz="1600" dirty="0">
                    <a:solidFill>
                      <a:srgbClr val="00B050"/>
                    </a:solidFill>
                    <a:latin typeface="Courier New" pitchFamily="49" charset="0"/>
                  </a:rPr>
                  <a:t> size = 3       </a:t>
                </a:r>
              </a:p>
            </p:txBody>
          </p:sp>
          <p:sp>
            <p:nvSpPr>
              <p:cNvPr id="106527" name="Rectangle 6"/>
              <p:cNvSpPr>
                <a:spLocks noChangeArrowheads="1"/>
              </p:cNvSpPr>
              <p:nvPr/>
            </p:nvSpPr>
            <p:spPr bwMode="auto">
              <a:xfrm>
                <a:off x="1056" y="1944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6525" name="Rectangle 7"/>
            <p:cNvSpPr>
              <a:spLocks noChangeArrowheads="1"/>
            </p:cNvSpPr>
            <p:nvPr/>
          </p:nvSpPr>
          <p:spPr bwMode="auto">
            <a:xfrm>
              <a:off x="432" y="1488"/>
              <a:ext cx="115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u="sng">
                  <a:solidFill>
                    <a:schemeClr val="accent2"/>
                  </a:solidFill>
                  <a:latin typeface="Courier New" pitchFamily="49" charset="0"/>
                </a:rPr>
                <a:t>SLList&lt;String&gt;</a:t>
              </a:r>
            </a:p>
          </p:txBody>
        </p:sp>
      </p:grpSp>
      <p:grpSp>
        <p:nvGrpSpPr>
          <p:cNvPr id="106499" name="Group 8"/>
          <p:cNvGrpSpPr>
            <a:grpSpLocks/>
          </p:cNvGrpSpPr>
          <p:nvPr/>
        </p:nvGrpSpPr>
        <p:grpSpPr bwMode="auto">
          <a:xfrm>
            <a:off x="3276600" y="2362200"/>
            <a:ext cx="1828800" cy="1295400"/>
            <a:chOff x="2064" y="1488"/>
            <a:chExt cx="1152" cy="816"/>
          </a:xfrm>
        </p:grpSpPr>
        <p:grpSp>
          <p:nvGrpSpPr>
            <p:cNvPr id="106520" name="Group 9"/>
            <p:cNvGrpSpPr>
              <a:grpSpLocks/>
            </p:cNvGrpSpPr>
            <p:nvPr/>
          </p:nvGrpSpPr>
          <p:grpSpPr bwMode="auto">
            <a:xfrm>
              <a:off x="2064" y="1824"/>
              <a:ext cx="1152" cy="480"/>
              <a:chOff x="2064" y="1824"/>
              <a:chExt cx="1152" cy="480"/>
            </a:xfrm>
          </p:grpSpPr>
          <p:sp>
            <p:nvSpPr>
              <p:cNvPr id="106522" name="Rectangle 10"/>
              <p:cNvSpPr>
                <a:spLocks noChangeArrowheads="1"/>
              </p:cNvSpPr>
              <p:nvPr/>
            </p:nvSpPr>
            <p:spPr bwMode="auto">
              <a:xfrm>
                <a:off x="2064" y="1824"/>
                <a:ext cx="1152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600" dirty="0">
                    <a:solidFill>
                      <a:srgbClr val="00B050"/>
                    </a:solidFill>
                    <a:latin typeface="Courier New" pitchFamily="49" charset="0"/>
                  </a:rPr>
                  <a:t>next =</a:t>
                </a:r>
              </a:p>
              <a:p>
                <a:r>
                  <a:rPr lang="en-US" sz="1600" dirty="0">
                    <a:solidFill>
                      <a:srgbClr val="00B050"/>
                    </a:solidFill>
                    <a:latin typeface="Courier New" pitchFamily="49" charset="0"/>
                  </a:rPr>
                  <a:t>data = "Tom"</a:t>
                </a:r>
              </a:p>
            </p:txBody>
          </p:sp>
          <p:sp>
            <p:nvSpPr>
              <p:cNvPr id="106523" name="Rectangle 11"/>
              <p:cNvSpPr>
                <a:spLocks noChangeArrowheads="1"/>
              </p:cNvSpPr>
              <p:nvPr/>
            </p:nvSpPr>
            <p:spPr bwMode="auto">
              <a:xfrm>
                <a:off x="2688" y="1944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6521" name="Rectangle 12"/>
            <p:cNvSpPr>
              <a:spLocks noChangeArrowheads="1"/>
            </p:cNvSpPr>
            <p:nvPr/>
          </p:nvSpPr>
          <p:spPr bwMode="auto">
            <a:xfrm>
              <a:off x="2064" y="1488"/>
              <a:ext cx="115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u="sng">
                  <a:solidFill>
                    <a:schemeClr val="accent2"/>
                  </a:solidFill>
                  <a:latin typeface="Courier New" pitchFamily="49" charset="0"/>
                </a:rPr>
                <a:t>Node&lt;String&gt;</a:t>
              </a:r>
            </a:p>
          </p:txBody>
        </p:sp>
      </p:grpSp>
      <p:grpSp>
        <p:nvGrpSpPr>
          <p:cNvPr id="106500" name="Group 13"/>
          <p:cNvGrpSpPr>
            <a:grpSpLocks/>
          </p:cNvGrpSpPr>
          <p:nvPr/>
        </p:nvGrpSpPr>
        <p:grpSpPr bwMode="auto">
          <a:xfrm>
            <a:off x="5715000" y="2362200"/>
            <a:ext cx="1828800" cy="1295400"/>
            <a:chOff x="2064" y="1488"/>
            <a:chExt cx="1152" cy="816"/>
          </a:xfrm>
        </p:grpSpPr>
        <p:grpSp>
          <p:nvGrpSpPr>
            <p:cNvPr id="106516" name="Group 14"/>
            <p:cNvGrpSpPr>
              <a:grpSpLocks/>
            </p:cNvGrpSpPr>
            <p:nvPr/>
          </p:nvGrpSpPr>
          <p:grpSpPr bwMode="auto">
            <a:xfrm>
              <a:off x="2064" y="1824"/>
              <a:ext cx="1152" cy="480"/>
              <a:chOff x="2064" y="1824"/>
              <a:chExt cx="1152" cy="480"/>
            </a:xfrm>
          </p:grpSpPr>
          <p:sp>
            <p:nvSpPr>
              <p:cNvPr id="106518" name="Rectangle 15"/>
              <p:cNvSpPr>
                <a:spLocks noChangeArrowheads="1"/>
              </p:cNvSpPr>
              <p:nvPr/>
            </p:nvSpPr>
            <p:spPr bwMode="auto">
              <a:xfrm>
                <a:off x="2064" y="1824"/>
                <a:ext cx="1152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600" dirty="0">
                    <a:solidFill>
                      <a:srgbClr val="00B050"/>
                    </a:solidFill>
                    <a:latin typeface="Courier New" pitchFamily="49" charset="0"/>
                  </a:rPr>
                  <a:t>next =</a:t>
                </a:r>
              </a:p>
              <a:p>
                <a:r>
                  <a:rPr lang="en-US" sz="1600" dirty="0">
                    <a:solidFill>
                      <a:srgbClr val="00B050"/>
                    </a:solidFill>
                    <a:latin typeface="Courier New" pitchFamily="49" charset="0"/>
                  </a:rPr>
                  <a:t>data = "Dick"</a:t>
                </a:r>
              </a:p>
            </p:txBody>
          </p:sp>
          <p:sp>
            <p:nvSpPr>
              <p:cNvPr id="106519" name="Rectangle 16"/>
              <p:cNvSpPr>
                <a:spLocks noChangeArrowheads="1"/>
              </p:cNvSpPr>
              <p:nvPr/>
            </p:nvSpPr>
            <p:spPr bwMode="auto">
              <a:xfrm>
                <a:off x="2688" y="1944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6517" name="Rectangle 17"/>
            <p:cNvSpPr>
              <a:spLocks noChangeArrowheads="1"/>
            </p:cNvSpPr>
            <p:nvPr/>
          </p:nvSpPr>
          <p:spPr bwMode="auto">
            <a:xfrm>
              <a:off x="2064" y="1488"/>
              <a:ext cx="115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u="sng">
                  <a:solidFill>
                    <a:schemeClr val="accent2"/>
                  </a:solidFill>
                  <a:latin typeface="Courier New" pitchFamily="49" charset="0"/>
                </a:rPr>
                <a:t>Node&lt;String&gt;</a:t>
              </a:r>
            </a:p>
          </p:txBody>
        </p:sp>
      </p:grpSp>
      <p:cxnSp>
        <p:nvCxnSpPr>
          <p:cNvPr id="106501" name="AutoShape 18"/>
          <p:cNvCxnSpPr>
            <a:cxnSpLocks noChangeShapeType="1"/>
          </p:cNvCxnSpPr>
          <p:nvPr/>
        </p:nvCxnSpPr>
        <p:spPr bwMode="auto">
          <a:xfrm rot="5400000" flipH="1" flipV="1">
            <a:off x="2362200" y="2260600"/>
            <a:ext cx="609600" cy="1219200"/>
          </a:xfrm>
          <a:prstGeom prst="curvedConnector4">
            <a:avLst>
              <a:gd name="adj1" fmla="val 1560"/>
              <a:gd name="adj2" fmla="val 6562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06502" name="AutoShape 19"/>
          <p:cNvCxnSpPr>
            <a:cxnSpLocks noChangeShapeType="1"/>
          </p:cNvCxnSpPr>
          <p:nvPr/>
        </p:nvCxnSpPr>
        <p:spPr bwMode="auto">
          <a:xfrm rot="5400000" flipH="1" flipV="1">
            <a:off x="4876800" y="2324100"/>
            <a:ext cx="609600" cy="1066800"/>
          </a:xfrm>
          <a:prstGeom prst="curvedConnector4">
            <a:avLst>
              <a:gd name="adj1" fmla="val 1560"/>
              <a:gd name="adj2" fmla="val 6785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grpSp>
        <p:nvGrpSpPr>
          <p:cNvPr id="106503" name="Group 20"/>
          <p:cNvGrpSpPr>
            <a:grpSpLocks/>
          </p:cNvGrpSpPr>
          <p:nvPr/>
        </p:nvGrpSpPr>
        <p:grpSpPr bwMode="auto">
          <a:xfrm>
            <a:off x="6629400" y="4343400"/>
            <a:ext cx="1828800" cy="1295400"/>
            <a:chOff x="2064" y="1488"/>
            <a:chExt cx="1152" cy="816"/>
          </a:xfrm>
        </p:grpSpPr>
        <p:grpSp>
          <p:nvGrpSpPr>
            <p:cNvPr id="106512" name="Group 21"/>
            <p:cNvGrpSpPr>
              <a:grpSpLocks/>
            </p:cNvGrpSpPr>
            <p:nvPr/>
          </p:nvGrpSpPr>
          <p:grpSpPr bwMode="auto">
            <a:xfrm>
              <a:off x="2064" y="1824"/>
              <a:ext cx="1152" cy="480"/>
              <a:chOff x="2064" y="1824"/>
              <a:chExt cx="1152" cy="480"/>
            </a:xfrm>
          </p:grpSpPr>
          <p:sp>
            <p:nvSpPr>
              <p:cNvPr id="106514" name="Rectangle 22"/>
              <p:cNvSpPr>
                <a:spLocks noChangeArrowheads="1"/>
              </p:cNvSpPr>
              <p:nvPr/>
            </p:nvSpPr>
            <p:spPr bwMode="auto">
              <a:xfrm>
                <a:off x="2064" y="1824"/>
                <a:ext cx="1152" cy="48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600" dirty="0">
                    <a:solidFill>
                      <a:srgbClr val="00B050"/>
                    </a:solidFill>
                    <a:latin typeface="Courier New" pitchFamily="49" charset="0"/>
                  </a:rPr>
                  <a:t>next =</a:t>
                </a:r>
              </a:p>
              <a:p>
                <a:r>
                  <a:rPr lang="en-US" sz="1600" dirty="0">
                    <a:solidFill>
                      <a:srgbClr val="00B050"/>
                    </a:solidFill>
                    <a:latin typeface="Courier New" pitchFamily="49" charset="0"/>
                  </a:rPr>
                  <a:t>data = "Ann"</a:t>
                </a:r>
              </a:p>
            </p:txBody>
          </p:sp>
          <p:sp>
            <p:nvSpPr>
              <p:cNvPr id="106515" name="Rectangle 23"/>
              <p:cNvSpPr>
                <a:spLocks noChangeArrowheads="1"/>
              </p:cNvSpPr>
              <p:nvPr/>
            </p:nvSpPr>
            <p:spPr bwMode="auto">
              <a:xfrm>
                <a:off x="2688" y="1944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1400">
                    <a:latin typeface="Courier New" pitchFamily="49" charset="0"/>
                    <a:cs typeface="Courier New" pitchFamily="49" charset="0"/>
                  </a:rPr>
                  <a:t>null</a:t>
                </a:r>
              </a:p>
            </p:txBody>
          </p:sp>
        </p:grpSp>
        <p:sp>
          <p:nvSpPr>
            <p:cNvPr id="106513" name="Rectangle 24"/>
            <p:cNvSpPr>
              <a:spLocks noChangeArrowheads="1"/>
            </p:cNvSpPr>
            <p:nvPr/>
          </p:nvSpPr>
          <p:spPr bwMode="auto">
            <a:xfrm>
              <a:off x="2064" y="1488"/>
              <a:ext cx="115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u="sng">
                  <a:solidFill>
                    <a:schemeClr val="accent2"/>
                  </a:solidFill>
                  <a:latin typeface="Courier New" pitchFamily="49" charset="0"/>
                </a:rPr>
                <a:t>Node&lt;String&gt;</a:t>
              </a:r>
            </a:p>
          </p:txBody>
        </p:sp>
      </p:grpSp>
      <p:cxnSp>
        <p:nvCxnSpPr>
          <p:cNvPr id="106504" name="AutoShape 28"/>
          <p:cNvCxnSpPr>
            <a:cxnSpLocks noChangeShapeType="1"/>
            <a:stCxn id="106519" idx="3"/>
            <a:endCxn id="106513" idx="1"/>
          </p:cNvCxnSpPr>
          <p:nvPr/>
        </p:nvCxnSpPr>
        <p:spPr bwMode="auto">
          <a:xfrm flipH="1">
            <a:off x="6629400" y="3162300"/>
            <a:ext cx="838200" cy="1447800"/>
          </a:xfrm>
          <a:prstGeom prst="curvedConnector5">
            <a:avLst>
              <a:gd name="adj1" fmla="val -27273"/>
              <a:gd name="adj2" fmla="val 54602"/>
              <a:gd name="adj3" fmla="val 12727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28" name="Rectangle 29"/>
          <p:cNvSpPr>
            <a:spLocks noChangeArrowheads="1"/>
          </p:cNvSpPr>
          <p:nvPr/>
        </p:nvSpPr>
        <p:spPr bwMode="auto">
          <a:xfrm>
            <a:off x="2743200" y="4781550"/>
            <a:ext cx="10287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1600" dirty="0">
              <a:latin typeface="Courier New" pitchFamily="49" charset="0"/>
            </a:endParaRPr>
          </a:p>
        </p:txBody>
      </p:sp>
      <p:cxnSp>
        <p:nvCxnSpPr>
          <p:cNvPr id="29" name="AutoShape 30"/>
          <p:cNvCxnSpPr>
            <a:cxnSpLocks noChangeShapeType="1"/>
            <a:stCxn id="28" idx="3"/>
            <a:endCxn id="106522" idx="2"/>
          </p:cNvCxnSpPr>
          <p:nvPr/>
        </p:nvCxnSpPr>
        <p:spPr bwMode="auto">
          <a:xfrm flipV="1">
            <a:off x="3771900" y="3657600"/>
            <a:ext cx="419100" cy="1281113"/>
          </a:xfrm>
          <a:prstGeom prst="curvedConnector2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</p:spPr>
      </p:cxnSp>
      <p:sp>
        <p:nvSpPr>
          <p:cNvPr id="34" name="Rectangle 33"/>
          <p:cNvSpPr/>
          <p:nvPr/>
        </p:nvSpPr>
        <p:spPr>
          <a:xfrm>
            <a:off x="4300538" y="4000500"/>
            <a:ext cx="18288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Do something with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nodeRef</a:t>
            </a:r>
          </a:p>
        </p:txBody>
      </p:sp>
      <p:cxnSp>
        <p:nvCxnSpPr>
          <p:cNvPr id="35" name="AutoShape 30"/>
          <p:cNvCxnSpPr>
            <a:cxnSpLocks noChangeShapeType="1"/>
          </p:cNvCxnSpPr>
          <p:nvPr/>
        </p:nvCxnSpPr>
        <p:spPr bwMode="auto">
          <a:xfrm flipV="1">
            <a:off x="3771900" y="3729038"/>
            <a:ext cx="2616200" cy="1209675"/>
          </a:xfrm>
          <a:prstGeom prst="curvedConnector3">
            <a:avLst>
              <a:gd name="adj1" fmla="val 95301"/>
            </a:avLst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</p:spPr>
      </p:cxnSp>
      <p:sp>
        <p:nvSpPr>
          <p:cNvPr id="47" name="Rectangle 46"/>
          <p:cNvSpPr/>
          <p:nvPr/>
        </p:nvSpPr>
        <p:spPr>
          <a:xfrm>
            <a:off x="4300538" y="4000500"/>
            <a:ext cx="1828800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Do something with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nodeRef</a:t>
            </a:r>
          </a:p>
        </p:txBody>
      </p:sp>
      <p:cxnSp>
        <p:nvCxnSpPr>
          <p:cNvPr id="48" name="AutoShape 30"/>
          <p:cNvCxnSpPr>
            <a:cxnSpLocks noChangeShapeType="1"/>
            <a:stCxn id="28" idx="3"/>
          </p:cNvCxnSpPr>
          <p:nvPr/>
        </p:nvCxnSpPr>
        <p:spPr bwMode="auto">
          <a:xfrm>
            <a:off x="3771900" y="4938713"/>
            <a:ext cx="2781300" cy="4762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</p:spPr>
      </p:cxnSp>
      <p:sp>
        <p:nvSpPr>
          <p:cNvPr id="52" name="Rectangle 51"/>
          <p:cNvSpPr/>
          <p:nvPr/>
        </p:nvSpPr>
        <p:spPr>
          <a:xfrm>
            <a:off x="4300538" y="4000500"/>
            <a:ext cx="1947862" cy="685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dirty="0"/>
              <a:t>Do something with current node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3537" y="1497568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4937" y="1895455"/>
            <a:ext cx="644525" cy="3016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457200" y="2057400"/>
            <a:ext cx="667742" cy="304800"/>
          </a:xfrm>
          <a:prstGeom prst="straightConnector1">
            <a:avLst/>
          </a:prstGeom>
          <a:ln w="2540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926799" y="4412218"/>
            <a:ext cx="1277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76154" y="5822076"/>
            <a:ext cx="542969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Note: the data field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dirty="0"/>
              <a:t> is a reference variable.</a:t>
            </a:r>
          </a:p>
          <a:p>
            <a:r>
              <a:rPr lang="en-US" dirty="0"/>
              <a:t>It references a String object. </a:t>
            </a:r>
          </a:p>
          <a:p>
            <a:r>
              <a:rPr lang="en-US" dirty="0"/>
              <a:t>The references are not shown here.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934117" y="4731585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51035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4" grpId="0" animBg="1"/>
      <p:bldP spid="34" grpId="1" animBg="1"/>
      <p:bldP spid="47" grpId="0" animBg="1"/>
      <p:bldP spid="47" grpId="1" animBg="1"/>
      <p:bldP spid="52" grpId="0" animBg="1"/>
      <p:bldP spid="52" grpId="1" animBg="1"/>
      <p:bldP spid="38" grpId="0"/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537575" cy="990600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/>
              <a:t>Traversing a generic Single-Linked List </a:t>
            </a:r>
            <a:r>
              <a:rPr lang="en-US" sz="3600" dirty="0"/>
              <a:t>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800600"/>
          </a:xfrm>
        </p:spPr>
        <p:txBody>
          <a:bodyPr>
            <a:normAutofit fontScale="77500" lnSpcReduction="20000"/>
          </a:bodyPr>
          <a:lstStyle/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3100" b="1" dirty="0">
                <a:latin typeface="Courier New" pitchFamily="49" charset="0"/>
                <a:cs typeface="Courier New" pitchFamily="49" charset="0"/>
              </a:rPr>
              <a:t>toString()</a:t>
            </a:r>
            <a:r>
              <a:rPr lang="en-US" sz="3600" b="1" dirty="0">
                <a:cs typeface="Courier New" pitchFamily="49" charset="0"/>
              </a:rPr>
              <a:t>can be implemented with a traversal</a:t>
            </a:r>
            <a:r>
              <a:rPr lang="en-US" sz="3100" b="1" dirty="0">
                <a:cs typeface="Courier New" pitchFamily="49" charset="0"/>
              </a:rPr>
              <a:t>: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3100" b="1" dirty="0">
                <a:cs typeface="Courier New" pitchFamily="49" charset="0"/>
              </a:rPr>
              <a:t>Use </a:t>
            </a:r>
            <a:r>
              <a:rPr lang="en-US" sz="3100" b="1" dirty="0" err="1">
                <a:cs typeface="Courier New" pitchFamily="49" charset="0"/>
              </a:rPr>
              <a:t>StringBuilder</a:t>
            </a:r>
            <a:r>
              <a:rPr lang="en-US" sz="3100" b="1" dirty="0">
                <a:cs typeface="Courier New" pitchFamily="49" charset="0"/>
              </a:rPr>
              <a:t> to hold intermediate resulting strings.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public String toString() {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StringBuilder</a:t>
            </a:r>
            <a:r>
              <a:rPr lang="en-US" sz="2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listInfo</a:t>
            </a:r>
            <a:r>
              <a:rPr lang="en-US" sz="2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2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StringBuilder</a:t>
            </a:r>
            <a:r>
              <a:rPr lang="en-US" sz="2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("[");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 Node&lt;E&gt; current = head;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 while (current != null) {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listInfo</a:t>
            </a:r>
            <a:r>
              <a:rPr lang="en-US" sz="2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.append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current.data.toString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listInfo.</a:t>
            </a:r>
            <a:r>
              <a:rPr lang="en-US" sz="2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append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(", ");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   current = 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current.next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listInfo.append</a:t>
            </a:r>
            <a:r>
              <a:rPr lang="en-US" sz="2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("]");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 return </a:t>
            </a:r>
            <a:r>
              <a:rPr lang="en-US" sz="2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listInfo.toString</a:t>
            </a:r>
            <a:r>
              <a:rPr lang="en-US" sz="2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 fontAlgn="auto">
              <a:spcAft>
                <a:spcPts val="0"/>
              </a:spcAft>
              <a:buFont typeface="Wingdings"/>
              <a:buNone/>
              <a:defRPr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072592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/>
              <a:t>Use class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SingleLinkedList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&lt;E&gt;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600200"/>
            <a:ext cx="8461375" cy="4495800"/>
          </a:xfrm>
        </p:spPr>
        <p:txBody>
          <a:bodyPr>
            <a:normAutofit/>
          </a:bodyPr>
          <a:lstStyle/>
          <a:p>
            <a:pPr marL="0" indent="0"/>
            <a:r>
              <a:rPr lang="en-US" sz="1600" dirty="0">
                <a:cs typeface="Courier New" pitchFamily="49" charset="0"/>
              </a:rPr>
              <a:t> </a:t>
            </a:r>
            <a:r>
              <a:rPr lang="en-US" dirty="0">
                <a:cs typeface="Courier New" pitchFamily="49" charset="0"/>
              </a:rPr>
              <a:t>Programs (Not in book)</a:t>
            </a:r>
          </a:p>
          <a:p>
            <a:pPr marL="320675" lvl="1" indent="0"/>
            <a:r>
              <a:rPr lang="en-US" dirty="0">
                <a:cs typeface="Courier New" pitchFamily="49" charset="0"/>
              </a:rPr>
              <a:t>SingleLinkedListTestString.java</a:t>
            </a:r>
          </a:p>
          <a:p>
            <a:pPr marL="857250" lvl="2" indent="-263525"/>
            <a:r>
              <a:rPr lang="en-US" sz="2400" dirty="0">
                <a:cs typeface="Courier New" pitchFamily="49" charset="0"/>
              </a:rPr>
              <a:t>Use </a:t>
            </a:r>
            <a:r>
              <a:rPr lang="en-US" sz="2400" dirty="0" err="1">
                <a:cs typeface="Courier New" pitchFamily="49" charset="0"/>
              </a:rPr>
              <a:t>SingleLinkedList</a:t>
            </a:r>
            <a:r>
              <a:rPr lang="en-US" sz="2400" dirty="0">
                <a:cs typeface="Courier New" pitchFamily="49" charset="0"/>
              </a:rPr>
              <a:t>&lt;E&gt; for creating and processing a single linked list of String objects (used for movie titles)</a:t>
            </a:r>
          </a:p>
          <a:p>
            <a:pPr marL="320675" lvl="1" indent="0"/>
            <a:r>
              <a:rPr lang="en-US" dirty="0">
                <a:cs typeface="Courier New" pitchFamily="49" charset="0"/>
              </a:rPr>
              <a:t>SingleLinkedListTestMagazine.java</a:t>
            </a:r>
          </a:p>
          <a:p>
            <a:pPr lvl="2" indent="-320675"/>
            <a:r>
              <a:rPr lang="en-US" sz="2400" dirty="0">
                <a:cs typeface="Courier New" pitchFamily="49" charset="0"/>
              </a:rPr>
              <a:t>Use </a:t>
            </a:r>
            <a:r>
              <a:rPr lang="en-US" sz="2400" dirty="0" err="1">
                <a:cs typeface="Courier New" pitchFamily="49" charset="0"/>
              </a:rPr>
              <a:t>SingleLinkedList</a:t>
            </a:r>
            <a:r>
              <a:rPr lang="en-US" sz="2400" dirty="0">
                <a:cs typeface="Courier New" pitchFamily="49" charset="0"/>
              </a:rPr>
              <a:t>&lt;E&gt; for creating and processing a single linked list of Magazine objects</a:t>
            </a:r>
          </a:p>
          <a:p>
            <a:pPr marL="595312" lvl="2" indent="0"/>
            <a:endParaRPr lang="en-US" dirty="0">
              <a:cs typeface="Courier New" pitchFamily="49" charset="0"/>
            </a:endParaRPr>
          </a:p>
          <a:p>
            <a:pPr marL="320675" lvl="1" indent="0"/>
            <a:endParaRPr lang="en-US" dirty="0">
              <a:cs typeface="Courier New" pitchFamily="49" charset="0"/>
            </a:endParaRPr>
          </a:p>
          <a:p>
            <a:pPr marL="0" inden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0334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 b="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Urban">
    <a:dk1>
      <a:sysClr val="windowText" lastClr="000000"/>
    </a:dk1>
    <a:lt1>
      <a:sysClr val="window" lastClr="FFFFFF"/>
    </a:lt1>
    <a:dk2>
      <a:srgbClr val="424456"/>
    </a:dk2>
    <a:lt2>
      <a:srgbClr val="DEDEDE"/>
    </a:lt2>
    <a:accent1>
      <a:srgbClr val="53548A"/>
    </a:accent1>
    <a:accent2>
      <a:srgbClr val="438086"/>
    </a:accent2>
    <a:accent3>
      <a:srgbClr val="A04DA3"/>
    </a:accent3>
    <a:accent4>
      <a:srgbClr val="C4652D"/>
    </a:accent4>
    <a:accent5>
      <a:srgbClr val="8B5D3D"/>
    </a:accent5>
    <a:accent6>
      <a:srgbClr val="5C92B5"/>
    </a:accent6>
    <a:hlink>
      <a:srgbClr val="67AFBD"/>
    </a:hlink>
    <a:folHlink>
      <a:srgbClr val="C2A87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15076</TotalTime>
  <Words>2422</Words>
  <Application>Microsoft Office PowerPoint</Application>
  <PresentationFormat>On-screen Show (4:3)</PresentationFormat>
  <Paragraphs>486</Paragraphs>
  <Slides>33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Courier New</vt:lpstr>
      <vt:lpstr>Tw Cen MT</vt:lpstr>
      <vt:lpstr>Wingdings</vt:lpstr>
      <vt:lpstr>Wingdings 2</vt:lpstr>
      <vt:lpstr>Median</vt:lpstr>
      <vt:lpstr>Chapter 2 Part 4</vt:lpstr>
      <vt:lpstr>Key topics</vt:lpstr>
      <vt:lpstr>Implementing Single Linked List of objects of a Specific Class Type</vt:lpstr>
      <vt:lpstr>Structure in a MagazineNode object for MagazineSingleLinkedList class</vt:lpstr>
      <vt:lpstr>Structure in a MagazineNode object for MagazineSingleLinkedList class</vt:lpstr>
      <vt:lpstr>MagazineListSingleLinked - Example</vt:lpstr>
      <vt:lpstr>Implementing Generic Single Linked Lists</vt:lpstr>
      <vt:lpstr>A Generic Single Linked List Node</vt:lpstr>
      <vt:lpstr>Directly Connecting Nodes:  generic Node&lt;E&gt;</vt:lpstr>
      <vt:lpstr>Directly Connecting Nodes:  generic Node&lt;E&gt; (cont’d)</vt:lpstr>
      <vt:lpstr>Add First: generic Node&lt;E&gt;</vt:lpstr>
      <vt:lpstr>Add in-between: generic Node&lt;E&gt;</vt:lpstr>
      <vt:lpstr>Remove Dick: generic Node&lt;E&gt;</vt:lpstr>
      <vt:lpstr>Indirectly Connecting Nodes:  generic Node&lt;E&gt;</vt:lpstr>
      <vt:lpstr>A Generic Single-Linked List Class</vt:lpstr>
      <vt:lpstr>Example of SingleLinkedList &lt;E&gt;: SingleLinkedList&lt;String&gt; names</vt:lpstr>
      <vt:lpstr>Implementing  public void addFirst(E item)</vt:lpstr>
      <vt:lpstr>Implementing  public void addFirst(E item) (cont.)</vt:lpstr>
      <vt:lpstr>Implementing helper method  private void addAfter(Node&lt;E&gt; node,E item)</vt:lpstr>
      <vt:lpstr>Implementing helper method (cont.) private void addAfter(Node&lt;E&gt; node, E item)</vt:lpstr>
      <vt:lpstr>Implementing helper method  private E removeFirst()</vt:lpstr>
      <vt:lpstr>Implementing helper method  private E removeFirst() (cont.)</vt:lpstr>
      <vt:lpstr>Implementing helper method private E removeAfter(Node&lt;E&gt; node)</vt:lpstr>
      <vt:lpstr>Implementing helper method (cont.) private E removeAfter(Node&lt;E&gt; node)</vt:lpstr>
      <vt:lpstr>Implementing helper method private Node&lt;E&gt; getNode(int index)</vt:lpstr>
      <vt:lpstr>Completing the SingleLinkedList&lt;E&gt; Class</vt:lpstr>
      <vt:lpstr>Implementing  public E get(int index)</vt:lpstr>
      <vt:lpstr>Implementing  public E set(int index, E newValue)</vt:lpstr>
      <vt:lpstr>Implementing  public void add(int index, E item)</vt:lpstr>
      <vt:lpstr>Implementing  public boolean add(E item)</vt:lpstr>
      <vt:lpstr>Traversing a Generic Single-Linked List</vt:lpstr>
      <vt:lpstr>Traversing a generic Single-Linked List (cont.)</vt:lpstr>
      <vt:lpstr>Use class SingleLinkedList&lt;E&gt;</vt:lpstr>
    </vt:vector>
  </TitlesOfParts>
  <Company>Personal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Inheritance and Class Hierarchies</dc:title>
  <dc:creator>Eliot Moss and Philip King</dc:creator>
  <cp:lastModifiedBy>Cindy Li</cp:lastModifiedBy>
  <cp:revision>859</cp:revision>
  <dcterms:created xsi:type="dcterms:W3CDTF">2004-06-18T19:15:49Z</dcterms:created>
  <dcterms:modified xsi:type="dcterms:W3CDTF">2023-01-31T04:10:00Z</dcterms:modified>
</cp:coreProperties>
</file>